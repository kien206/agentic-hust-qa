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7"/>
  </p:notesMasterIdLst>
  <p:handoutMasterIdLst>
    <p:handoutMasterId r:id="rId48"/>
  </p:handoutMasterIdLst>
  <p:sldIdLst>
    <p:sldId id="257" r:id="rId2"/>
    <p:sldId id="287" r:id="rId3"/>
    <p:sldId id="289" r:id="rId4"/>
    <p:sldId id="265" r:id="rId5"/>
    <p:sldId id="290" r:id="rId6"/>
    <p:sldId id="291" r:id="rId7"/>
    <p:sldId id="279" r:id="rId8"/>
    <p:sldId id="293" r:id="rId9"/>
    <p:sldId id="280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284" r:id="rId24"/>
    <p:sldId id="307" r:id="rId25"/>
    <p:sldId id="308" r:id="rId26"/>
    <p:sldId id="309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26" r:id="rId36"/>
    <p:sldId id="319" r:id="rId37"/>
    <p:sldId id="320" r:id="rId38"/>
    <p:sldId id="321" r:id="rId39"/>
    <p:sldId id="327" r:id="rId40"/>
    <p:sldId id="328" r:id="rId41"/>
    <p:sldId id="322" r:id="rId42"/>
    <p:sldId id="323" r:id="rId43"/>
    <p:sldId id="324" r:id="rId44"/>
    <p:sldId id="325" r:id="rId45"/>
    <p:sldId id="269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3/28/2025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3/28/2025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3/28/2025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3" r:id="rId3"/>
    <p:sldLayoutId id="2147483679" r:id="rId4"/>
    <p:sldLayoutId id="2147483680" r:id="rId5"/>
    <p:sldLayoutId id="2147483681" r:id="rId6"/>
    <p:sldLayoutId id="2147483682" r:id="rId7"/>
    <p:sldLayoutId id="214748367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lamaindex.ai/llamapars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oict.hust.edu.vn/can-bo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2.03216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tavily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ragas.io/en/stable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1" y="2421636"/>
            <a:ext cx="7471355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LLM Projects Overview</a:t>
            </a:r>
            <a:endParaRPr lang="en-US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/>
              <a:t>Le Trung Kien</a:t>
            </a:r>
            <a:endParaRPr lang="en-US" sz="2800" b="0" dirty="0"/>
          </a:p>
          <a:p>
            <a:r>
              <a:rPr lang="en-US" sz="2800" b="0"/>
              <a:t>28/03/2025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F0A27E-CF3E-2162-99C9-209849E6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2A97B-FA4F-D629-E60D-C7D673EC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9EC05-7248-75D8-4B41-DC923BD1D5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b="1"/>
              <a:t>LLM-based Question Answering System for HUST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Visual Question Answering</a:t>
            </a:r>
          </a:p>
          <a:p>
            <a:pPr marL="0" indent="0">
              <a:buNone/>
            </a:pPr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3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FF8AC-AF75-A7E4-2C3E-61A922A5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E7056-90BE-2899-8CE3-9994CB003C0A}"/>
              </a:ext>
            </a:extLst>
          </p:cNvPr>
          <p:cNvSpPr txBox="1"/>
          <p:nvPr/>
        </p:nvSpPr>
        <p:spPr>
          <a:xfrm>
            <a:off x="3433665" y="2873829"/>
            <a:ext cx="5598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</a:t>
            </a:r>
            <a:r>
              <a:rPr lang="en-US" sz="24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LLM-based Question Answering System for HUST</a:t>
            </a:r>
          </a:p>
          <a:p>
            <a:endParaRPr lang="vi-VN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6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1.1. 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/>
              <a:t>Motivation:</a:t>
            </a:r>
          </a:p>
          <a:p>
            <a:pPr lvl="1"/>
            <a:r>
              <a:rPr lang="en-US"/>
              <a:t>HUST admits thousands of students every year, with massive amount of information</a:t>
            </a:r>
          </a:p>
          <a:p>
            <a:pPr lvl="1"/>
            <a:r>
              <a:rPr lang="en-US"/>
              <a:t>Whenever students have questions, they would need to contact the school office, or ask on the Internet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 Inconvinient due to long respond time and sometimes Internet information is incorrect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 Create a chatbot interface</a:t>
            </a:r>
          </a:p>
          <a:p>
            <a:r>
              <a:rPr lang="en-US" b="1">
                <a:sym typeface="Wingdings" panose="05000000000000000000" pitchFamily="2" charset="2"/>
              </a:rPr>
              <a:t>Goal: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Create a QA system for fast, robust answering about HUST documents/regulations + lecturers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C939-CF27-71B2-618D-421CD53D2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5C10F0-1EBB-6A35-BA69-F060668E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782EEF-89FA-0CD2-70C5-96632A74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1.1.1. Proposed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F1F33-DEC4-2145-4590-D622C903DD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>
                <a:sym typeface="Wingdings" panose="05000000000000000000" pitchFamily="2" charset="2"/>
              </a:rPr>
              <a:t>There have been many ways to build QA systems</a:t>
            </a:r>
          </a:p>
          <a:p>
            <a:r>
              <a:rPr lang="en-US" sz="2400">
                <a:sym typeface="Wingdings" panose="05000000000000000000" pitchFamily="2" charset="2"/>
              </a:rPr>
              <a:t>Inspired by advancements in </a:t>
            </a:r>
            <a:r>
              <a:rPr lang="en-US" sz="2400" b="1">
                <a:sym typeface="Wingdings" panose="05000000000000000000" pitchFamily="2" charset="2"/>
              </a:rPr>
              <a:t>Generative AI </a:t>
            </a:r>
            <a:r>
              <a:rPr lang="en-US" sz="2400">
                <a:sym typeface="Wingdings" panose="05000000000000000000" pitchFamily="2" charset="2"/>
              </a:rPr>
              <a:t>and </a:t>
            </a:r>
            <a:r>
              <a:rPr lang="en-US" sz="2400" b="1">
                <a:sym typeface="Wingdings" panose="05000000000000000000" pitchFamily="2" charset="2"/>
              </a:rPr>
              <a:t>Agentic AI</a:t>
            </a:r>
            <a:r>
              <a:rPr lang="en-US" sz="2400">
                <a:sym typeface="Wingdings" panose="05000000000000000000" pitchFamily="2" charset="2"/>
              </a:rPr>
              <a:t>, I propose a </a:t>
            </a:r>
            <a:r>
              <a:rPr lang="en-US" sz="2400" b="1">
                <a:sym typeface="Wingdings" panose="05000000000000000000" pitchFamily="2" charset="2"/>
              </a:rPr>
              <a:t>workflow</a:t>
            </a:r>
            <a:r>
              <a:rPr lang="en-US" sz="2400">
                <a:sym typeface="Wingdings" panose="05000000000000000000" pitchFamily="2" charset="2"/>
              </a:rPr>
              <a:t> that include the following modules:</a:t>
            </a:r>
          </a:p>
          <a:p>
            <a:pPr lvl="1"/>
            <a:r>
              <a:rPr lang="en-US" b="1">
                <a:sym typeface="Wingdings" panose="05000000000000000000" pitchFamily="2" charset="2"/>
              </a:rPr>
              <a:t>Router:</a:t>
            </a:r>
            <a:r>
              <a:rPr lang="en-US">
                <a:sym typeface="Wingdings" panose="05000000000000000000" pitchFamily="2" charset="2"/>
              </a:rPr>
              <a:t> decide what the questions is asking about: documents/regulations or lectures/personnel or an irrelevant question.</a:t>
            </a:r>
          </a:p>
          <a:p>
            <a:pPr lvl="1"/>
            <a:r>
              <a:rPr lang="en-US" b="1">
                <a:sym typeface="Wingdings" panose="05000000000000000000" pitchFamily="2" charset="2"/>
              </a:rPr>
              <a:t>RAG</a:t>
            </a:r>
            <a:r>
              <a:rPr lang="en-US">
                <a:sym typeface="Wingdings" panose="05000000000000000000" pitchFamily="2" charset="2"/>
              </a:rPr>
              <a:t>: answer questions related to documents/regulations.</a:t>
            </a:r>
          </a:p>
          <a:p>
            <a:pPr lvl="1"/>
            <a:r>
              <a:rPr lang="en-US" b="1">
                <a:sym typeface="Wingdings" panose="05000000000000000000" pitchFamily="2" charset="2"/>
              </a:rPr>
              <a:t>Text2SQL</a:t>
            </a:r>
            <a:r>
              <a:rPr lang="en-US">
                <a:sym typeface="Wingdings" panose="05000000000000000000" pitchFamily="2" charset="2"/>
              </a:rPr>
              <a:t>: answer questions about personnel (currently only SoICT lecturers/personnel). </a:t>
            </a:r>
          </a:p>
          <a:p>
            <a:pPr lvl="1"/>
            <a:r>
              <a:rPr lang="en-US" b="1">
                <a:sym typeface="Wingdings" panose="05000000000000000000" pitchFamily="2" charset="2"/>
              </a:rPr>
              <a:t>Web Search</a:t>
            </a:r>
            <a:r>
              <a:rPr lang="en-US">
                <a:sym typeface="Wingdings" panose="05000000000000000000" pitchFamily="2" charset="2"/>
              </a:rPr>
              <a:t>: search the web for context if no documents is found in RAG or no results in Text2SQL.</a:t>
            </a:r>
          </a:p>
          <a:p>
            <a:r>
              <a:rPr lang="en-US" sz="2400">
                <a:sym typeface="Wingdings" panose="05000000000000000000" pitchFamily="2" charset="2"/>
              </a:rPr>
              <a:t>Details will be shown in latter parts.</a:t>
            </a:r>
          </a:p>
        </p:txBody>
      </p:sp>
    </p:spTree>
    <p:extLst>
      <p:ext uri="{BB962C8B-B14F-4D97-AF65-F5344CB8AC3E}">
        <p14:creationId xmlns:p14="http://schemas.microsoft.com/office/powerpoint/2010/main" val="173136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49DF-304B-8C8D-DE32-810188BB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854A42-6B2C-1660-CE33-C341A133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B80486-66BA-88BA-3F18-D83151A3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1.1.1. Proposed Solution</a:t>
            </a:r>
          </a:p>
        </p:txBody>
      </p:sp>
      <p:pic>
        <p:nvPicPr>
          <p:cNvPr id="10" name="Content Placeholder 9" descr="A diagram of a process&#10;&#10;AI-generated content may be incorrect.">
            <a:extLst>
              <a:ext uri="{FF2B5EF4-FFF2-40B4-BE49-F238E27FC236}">
                <a16:creationId xmlns:a16="http://schemas.microsoft.com/office/drawing/2014/main" id="{CCB5F479-9644-2759-7F97-41E09530FE4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51" y="962673"/>
            <a:ext cx="6298163" cy="5161016"/>
          </a:xfrm>
        </p:spPr>
      </p:pic>
    </p:spTree>
    <p:extLst>
      <p:ext uri="{BB962C8B-B14F-4D97-AF65-F5344CB8AC3E}">
        <p14:creationId xmlns:p14="http://schemas.microsoft.com/office/powerpoint/2010/main" val="110652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9EC11-A0AC-743F-FACC-6620B996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7E1CC4-3C10-8FA6-C67F-AAC0A252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785C30-105C-7F88-39C0-5C812102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1.1.2. Reasons for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ED0FF-D93E-569F-11F2-8323C2DE0A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r>
              <a:rPr lang="en-US" sz="2200"/>
              <a:t>Make use of Large Language Models for complicated and long context QA.</a:t>
            </a:r>
          </a:p>
          <a:p>
            <a:pPr lvl="1"/>
            <a:r>
              <a:rPr lang="en-US" sz="2200"/>
              <a:t>Lecturer data </a:t>
            </a:r>
            <a:r>
              <a:rPr lang="en-US" sz="2200" b="1"/>
              <a:t>more structured </a:t>
            </a:r>
            <a:r>
              <a:rPr lang="en-US" sz="2200">
                <a:sym typeface="Wingdings" panose="05000000000000000000" pitchFamily="2" charset="2"/>
              </a:rPr>
              <a:t> use </a:t>
            </a:r>
            <a:r>
              <a:rPr lang="en-US" sz="2200" b="1">
                <a:sym typeface="Wingdings" panose="05000000000000000000" pitchFamily="2" charset="2"/>
              </a:rPr>
              <a:t>Text-to-SQL</a:t>
            </a:r>
            <a:r>
              <a:rPr lang="en-US" sz="2200">
                <a:sym typeface="Wingdings" panose="05000000000000000000" pitchFamily="2" charset="2"/>
              </a:rPr>
              <a:t> to make responses faster and more structrured, reducing computational overhead at the same time.</a:t>
            </a:r>
          </a:p>
          <a:p>
            <a:pPr lvl="1"/>
            <a:r>
              <a:rPr lang="en-US" sz="2200" b="1"/>
              <a:t>RAG</a:t>
            </a:r>
            <a:r>
              <a:rPr lang="en-US" sz="2200"/>
              <a:t> to deal with PDF documents that contains text, tabular data.</a:t>
            </a:r>
          </a:p>
          <a:p>
            <a:pPr lvl="1"/>
            <a:r>
              <a:rPr lang="en-US" sz="2200"/>
              <a:t>Web search: since the databases might not be enough or updated -&gt; only used when no data can be found (based on </a:t>
            </a:r>
            <a:r>
              <a:rPr lang="en-US" sz="2200" b="1"/>
              <a:t>Corrective RAG</a:t>
            </a:r>
            <a:r>
              <a:rPr lang="en-US" sz="220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9444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9D58F-705D-2E3D-FFA3-84AB3588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87615D-419F-F002-8761-04748188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F90BCD-4252-3F1F-ABC4-11E6060F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1.2. Data preparation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164A4-5FC7-5DC8-83C0-AADC4BB4F2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200"/>
              <a:t>We have 2 fields of data needed to be answered:</a:t>
            </a:r>
          </a:p>
          <a:p>
            <a:pPr lvl="1"/>
            <a:r>
              <a:rPr lang="en-US" sz="1800"/>
              <a:t>Documents/regulations: including Quy chế đào tạo, Quy chế tuyển sinh,…</a:t>
            </a:r>
          </a:p>
          <a:p>
            <a:pPr lvl="1"/>
            <a:r>
              <a:rPr lang="en-US" sz="1800"/>
              <a:t>Lectures: name, email, teaching subjects, research fields,…</a:t>
            </a:r>
          </a:p>
          <a:p>
            <a:r>
              <a:rPr lang="en-US" sz="2200"/>
              <a:t>Each requires different collection + preprocessing methods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D4BD2-97A1-8673-DB6F-4E3D4EDDB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1387"/>
            <a:ext cx="4421785" cy="3941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1387F-72D6-4691-778E-E350E976B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601" y="2993874"/>
            <a:ext cx="4969399" cy="30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00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7D790-75C6-A35F-FB57-ABEADDFE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A6A4AA-4051-C2C6-4FC3-FF433064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78DC31-6C3E-719E-A0EE-D6BA1F50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1.2.1. Documents/Regulations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B777E-F966-D044-74CF-AAC98BD507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89706" cy="5419594"/>
          </a:xfrm>
        </p:spPr>
        <p:txBody>
          <a:bodyPr/>
          <a:lstStyle/>
          <a:p>
            <a:r>
              <a:rPr lang="en-US"/>
              <a:t>Collected 19 PDFs file on websites.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Documents can be </a:t>
            </a:r>
            <a:r>
              <a:rPr lang="en-US" b="1"/>
              <a:t>PDF text</a:t>
            </a:r>
            <a:r>
              <a:rPr lang="en-US"/>
              <a:t> or </a:t>
            </a:r>
            <a:r>
              <a:rPr lang="en-US" b="1"/>
              <a:t>scanned images </a:t>
            </a:r>
            <a:r>
              <a:rPr lang="en-US"/>
              <a:t>of documents. Only contains </a:t>
            </a:r>
            <a:r>
              <a:rPr lang="en-US" b="1"/>
              <a:t>text</a:t>
            </a:r>
            <a:r>
              <a:rPr lang="en-US"/>
              <a:t> and </a:t>
            </a:r>
            <a:r>
              <a:rPr lang="en-US" b="1"/>
              <a:t>tabular data.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625FFA-60C9-35BF-BBC2-8FB8D9D57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11" y="1320030"/>
            <a:ext cx="5236681" cy="360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85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DC8D-1282-3E6B-7C68-82BB7945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C42A7E-96AB-3A66-B59F-87BD73F6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299E7-F30C-058A-D5A7-EDF24356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1.2.1. Documents/Regulations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934DB-B199-BE95-87F4-CAA238D618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Parsed the data into raw text using </a:t>
            </a:r>
            <a:r>
              <a:rPr lang="en-US">
                <a:hlinkClick r:id="rId2"/>
              </a:rPr>
              <a:t>LlamaParse</a:t>
            </a:r>
            <a:endParaRPr lang="en-US"/>
          </a:p>
          <a:p>
            <a:r>
              <a:rPr lang="en-US"/>
              <a:t>LlamaParse is </a:t>
            </a:r>
            <a:r>
              <a:rPr lang="en-US" b="1"/>
              <a:t>genAI-native parsing platform</a:t>
            </a:r>
            <a:r>
              <a:rPr lang="en-US"/>
              <a:t> </a:t>
            </a:r>
          </a:p>
          <a:p>
            <a:pPr lvl="1"/>
            <a:r>
              <a:rPr lang="en-US"/>
              <a:t>Transform complex documents (with tables, charts, images, flow diagrams etc) into clean data for LLM applications.</a:t>
            </a:r>
          </a:p>
          <a:p>
            <a:pPr lvl="1"/>
            <a:r>
              <a:rPr lang="en-US"/>
              <a:t>Supports multiple languages, with state-of-the-art parsing.</a:t>
            </a:r>
          </a:p>
          <a:p>
            <a:pPr lvl="1"/>
            <a:r>
              <a:rPr lang="en-US"/>
              <a:t>Supports many file types (pdf, ppt, html,…) and export formats (text, markdown).</a:t>
            </a:r>
          </a:p>
          <a:p>
            <a:r>
              <a:rPr lang="en-US"/>
              <a:t>Currently, text is the chosen output format. </a:t>
            </a:r>
          </a:p>
          <a:p>
            <a:r>
              <a:rPr lang="en-US"/>
              <a:t>Will compare performance with markdown later.</a:t>
            </a:r>
          </a:p>
        </p:txBody>
      </p:sp>
    </p:spTree>
    <p:extLst>
      <p:ext uri="{BB962C8B-B14F-4D97-AF65-F5344CB8AC3E}">
        <p14:creationId xmlns:p14="http://schemas.microsoft.com/office/powerpoint/2010/main" val="149930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2D4F3-1936-A000-C549-FF06CE51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E91A10-8D2A-3CE5-C48E-7B116097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CAA224-0519-7A55-58F3-291615C0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1.2.2. Lecturer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BA2A4-8AFF-C571-A805-E0372C79F0E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Lecturer data crawled from </a:t>
            </a:r>
            <a:r>
              <a:rPr lang="en-US">
                <a:hlinkClick r:id="rId2"/>
              </a:rPr>
              <a:t>SoICT website</a:t>
            </a:r>
            <a:r>
              <a:rPr lang="en-US"/>
              <a:t>.</a:t>
            </a:r>
          </a:p>
          <a:p>
            <a:r>
              <a:rPr lang="en-US"/>
              <a:t>Used with </a:t>
            </a:r>
            <a:r>
              <a:rPr lang="en-US" b="1"/>
              <a:t>BeautifulSoup </a:t>
            </a:r>
            <a:r>
              <a:rPr lang="en-US"/>
              <a:t>and requests to crawl HTML content and parse information.</a:t>
            </a:r>
          </a:p>
          <a:p>
            <a:r>
              <a:rPr lang="en-US"/>
              <a:t>Saved to </a:t>
            </a:r>
            <a:r>
              <a:rPr lang="en-US" b="1"/>
              <a:t>JSON file</a:t>
            </a:r>
            <a:r>
              <a:rPr lang="en-US"/>
              <a:t> with following fields of information.</a:t>
            </a:r>
          </a:p>
          <a:p>
            <a:pPr lvl="1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  <a:p>
            <a:pPr lvl="1"/>
            <a:r>
              <a:rPr lang="en-US"/>
              <a:t>Email</a:t>
            </a:r>
          </a:p>
          <a:p>
            <a:pPr lvl="1"/>
            <a:r>
              <a:rPr lang="en-US"/>
              <a:t>Education path</a:t>
            </a:r>
          </a:p>
          <a:p>
            <a:pPr lvl="1"/>
            <a:r>
              <a:rPr lang="en-US"/>
              <a:t>Research fields</a:t>
            </a:r>
          </a:p>
          <a:p>
            <a:pPr lvl="1"/>
            <a:r>
              <a:rPr lang="en-US"/>
              <a:t>Interested fields</a:t>
            </a:r>
          </a:p>
          <a:p>
            <a:r>
              <a:rPr lang="en-US"/>
              <a:t>Total 104 profiles</a:t>
            </a: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CA513-5D7D-A6EF-255C-57EC44A8936B}"/>
              </a:ext>
            </a:extLst>
          </p:cNvPr>
          <p:cNvSpPr txBox="1"/>
          <p:nvPr/>
        </p:nvSpPr>
        <p:spPr>
          <a:xfrm>
            <a:off x="4306130" y="3194365"/>
            <a:ext cx="46186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Notable publications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Awards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Teaching subjects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Current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url</a:t>
            </a:r>
            <a:endParaRPr lang="vi-VN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314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7B6CC-BC44-C4C2-805C-4E6FD2DB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1C19D-A2F2-D72A-BF44-1D4B47F3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00A83A-113E-C73C-DD76-B65D66FA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1.2.2. Lecturer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F9B9CD-033C-D0AA-375C-866E7E4FFAA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2774" y="1030914"/>
            <a:ext cx="8190720" cy="4581350"/>
          </a:xfrm>
        </p:spPr>
      </p:pic>
    </p:spTree>
    <p:extLst>
      <p:ext uri="{BB962C8B-B14F-4D97-AF65-F5344CB8AC3E}">
        <p14:creationId xmlns:p14="http://schemas.microsoft.com/office/powerpoint/2010/main" val="873590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3935E-2E63-CE4C-BB69-EC1DC7F4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5FEB8-F150-26D6-0A41-0676F670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2965EE-2F63-76A3-51D9-B9A22EB9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29B72-4F2C-DF0E-D95B-4F71DD3108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3 main modules:</a:t>
            </a:r>
          </a:p>
          <a:p>
            <a:pPr lvl="1"/>
            <a:r>
              <a:rPr lang="en-US"/>
              <a:t>Router.</a:t>
            </a:r>
          </a:p>
          <a:p>
            <a:pPr lvl="1"/>
            <a:r>
              <a:rPr lang="en-US"/>
              <a:t>Retrieval Augmented Generation.</a:t>
            </a:r>
          </a:p>
          <a:p>
            <a:pPr lvl="1"/>
            <a:r>
              <a:rPr lang="en-US"/>
              <a:t>Text2SQL.</a:t>
            </a:r>
          </a:p>
          <a:p>
            <a:r>
              <a:rPr lang="en-US"/>
              <a:t>Large Language Model: </a:t>
            </a:r>
            <a:r>
              <a:rPr lang="en-US" b="1"/>
              <a:t>Llama3.1-8B</a:t>
            </a:r>
          </a:p>
          <a:p>
            <a:pPr lvl="1"/>
            <a:r>
              <a:rPr lang="en-US"/>
              <a:t>Offers good trade-off between performance and latency.</a:t>
            </a:r>
          </a:p>
          <a:p>
            <a:pPr lvl="1"/>
            <a:r>
              <a:rPr lang="en-US"/>
              <a:t>Support multilingual.</a:t>
            </a:r>
          </a:p>
          <a:p>
            <a:r>
              <a:rPr lang="en-US"/>
              <a:t>LLM is hosted locally using </a:t>
            </a:r>
            <a:r>
              <a:rPr lang="en-US" b="1"/>
              <a:t>Ollama</a:t>
            </a:r>
            <a:r>
              <a:rPr lang="en-US"/>
              <a:t>.</a:t>
            </a:r>
          </a:p>
          <a:p>
            <a:pPr lvl="1"/>
            <a:r>
              <a:rPr lang="en-US"/>
              <a:t>Ollama is a lightweight framework for running LLM locally.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53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3B76-C989-C3C3-F8D0-B8EED157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E1150A-8E9F-0CCA-925A-E7FFE933D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460F38-59A0-2F0D-853A-8BA996E6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1.3.1. Router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4509D-10C8-7EBF-890C-39B2E31298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Prompt the LLM to decide which module should be used to answer the question.</a:t>
            </a:r>
          </a:p>
          <a:p>
            <a:r>
              <a:rPr lang="en-US"/>
              <a:t>Returns a JSON answer (using LLM JSON mode), with the desired route.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7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36D1-E5BB-35EB-8507-313E2FDD4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5864E4-8A50-56F4-5DBD-F760135A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1585E8-0845-53AF-6E79-4BA9A182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1.3.2. RAG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BCACA-F3A2-BBEA-4EFA-B0F18D94EA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Documents data are chunked using </a:t>
            </a:r>
            <a:r>
              <a:rPr lang="en-US" sz="2400" b="1"/>
              <a:t>TikToken tokenizer </a:t>
            </a:r>
            <a:r>
              <a:rPr lang="en-US" sz="2400"/>
              <a:t>with following parameters:</a:t>
            </a:r>
          </a:p>
          <a:p>
            <a:pPr lvl="1"/>
            <a:r>
              <a:rPr lang="en-US" sz="2200"/>
              <a:t>Chunk_size: 1024</a:t>
            </a:r>
          </a:p>
          <a:p>
            <a:pPr lvl="1"/>
            <a:r>
              <a:rPr lang="en-US" sz="2200"/>
              <a:t>Chunk_overlap: 200</a:t>
            </a:r>
          </a:p>
          <a:p>
            <a:r>
              <a:rPr lang="en-US" sz="2400"/>
              <a:t> </a:t>
            </a:r>
            <a:r>
              <a:rPr lang="en-US" sz="2400" b="1"/>
              <a:t>Embedded model</a:t>
            </a:r>
            <a:r>
              <a:rPr lang="en-US" sz="2400"/>
              <a:t>: </a:t>
            </a:r>
            <a:r>
              <a:rPr lang="en-US" sz="2400" b="1">
                <a:hlinkClick r:id="rId2"/>
              </a:rPr>
              <a:t>BGE-M3</a:t>
            </a:r>
            <a:endParaRPr lang="en-US" sz="2400" b="1"/>
          </a:p>
          <a:p>
            <a:pPr lvl="1"/>
            <a:r>
              <a:rPr lang="en-US" sz="2200"/>
              <a:t>A multilingual, state-of-the-art embedding model for text.</a:t>
            </a:r>
          </a:p>
          <a:p>
            <a:pPr lvl="1"/>
            <a:r>
              <a:rPr lang="en-US" sz="2200"/>
              <a:t>The best for Vietnamese embedding in benchmark leaderboards.</a:t>
            </a:r>
          </a:p>
          <a:p>
            <a:r>
              <a:rPr lang="en-US" sz="2400"/>
              <a:t>Chunks are embedded, and ingested to </a:t>
            </a:r>
            <a:r>
              <a:rPr lang="en-US" sz="2400" b="1"/>
              <a:t>Weaviate ,</a:t>
            </a:r>
            <a:r>
              <a:rPr lang="en-US" sz="2400"/>
              <a:t> a vector database.</a:t>
            </a:r>
          </a:p>
          <a:p>
            <a:pPr lvl="1"/>
            <a:r>
              <a:rPr lang="en-US" sz="2200"/>
              <a:t>Open source </a:t>
            </a:r>
            <a:r>
              <a:rPr lang="en-US" sz="2200">
                <a:sym typeface="Wingdings" panose="05000000000000000000" pitchFamily="2" charset="2"/>
              </a:rPr>
              <a:t>-&gt; free, easy to debug.</a:t>
            </a:r>
          </a:p>
          <a:p>
            <a:pPr lvl="1"/>
            <a:r>
              <a:rPr lang="en-US" sz="2200"/>
              <a:t>Supports hybrid search.</a:t>
            </a:r>
          </a:p>
          <a:p>
            <a:pPr lvl="1"/>
            <a:r>
              <a:rPr lang="en-US" sz="2200"/>
              <a:t>Designed for natural language + numerical data.</a:t>
            </a:r>
          </a:p>
          <a:p>
            <a:pPr lvl="1"/>
            <a:r>
              <a:rPr lang="en-US" sz="2200"/>
              <a:t>Personal preference.</a:t>
            </a:r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78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87523-3BC4-AA1F-34F1-006CF12F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FD0227-1C78-D44F-C8C6-0332A8F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8CCC08-51DE-CF8B-09CF-FE598778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1.3.2. RAG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7CBD4-AB5B-7C6F-8A22-CECC23E6C2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When presented with a query, the system performs hybrid search:</a:t>
            </a:r>
          </a:p>
          <a:p>
            <a:pPr lvl="1"/>
            <a:r>
              <a:rPr lang="en-US"/>
              <a:t>Keyword search: searched using BM25 score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Semantic search: cosine similarity with chunks</a:t>
            </a:r>
          </a:p>
          <a:p>
            <a:pPr lvl="1"/>
            <a:r>
              <a:rPr lang="en-US"/>
              <a:t>The final score will be a weighted sum of the 2 scores</a:t>
            </a:r>
          </a:p>
          <a:p>
            <a:pPr lvl="2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ECB07-D231-65AD-D36E-C2B484708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48" y="2122408"/>
            <a:ext cx="7098183" cy="261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30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D55E2-6E7C-53CC-2E90-54F59740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7E42A0-F996-9017-1FEB-9526EAA8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52FD9D-ECE8-B9BA-4040-D07A9738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1.3.2. RAG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22504-0EA2-07F0-6FFC-AAA65D3641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Retriever gets top k (k=3) relevant documents.</a:t>
            </a:r>
          </a:p>
          <a:p>
            <a:r>
              <a:rPr lang="en-US"/>
              <a:t>System rechecks whether the 3 documents are truly relevant with LLM.</a:t>
            </a:r>
          </a:p>
          <a:p>
            <a:pPr lvl="1"/>
            <a:r>
              <a:rPr lang="en-US"/>
              <a:t>If no documents are relevant, go to Websearch (later explained) module for information.</a:t>
            </a:r>
          </a:p>
          <a:p>
            <a:pPr lvl="1"/>
            <a:r>
              <a:rPr lang="en-US"/>
              <a:t>If documents are relevant, generate response with LLM.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A4B605-CA19-2A9C-E6D0-8E993659A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9144000" cy="285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94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21548-8E67-15C5-3942-62164CD1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9F12E9-7CF7-C6F1-5A41-F23E56B2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04A9E-68FB-C464-A9EE-3BD27CEF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1.3.3. Text2SQL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EB32F-DBF7-99E2-DA85-E104EFD2C0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Lecturers data after being stored into JSON file need to be redesigned to fit a SQL Schema.</a:t>
            </a:r>
          </a:p>
          <a:p>
            <a:r>
              <a:rPr lang="en-US"/>
              <a:t>The schema: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93741-AAC2-3092-A7D3-835C91CF2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302" y="2200301"/>
            <a:ext cx="6494107" cy="404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75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A05C-2574-FB9E-759B-5D17E234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26493F-0C08-21DC-63D3-D098E5B9A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50EE19-13E9-D624-C056-644535FE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1.3.3. Text2SQL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FCA15-EB87-15E1-45F8-7341668F8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Data is ingested to </a:t>
            </a:r>
            <a:r>
              <a:rPr lang="en-US" b="1"/>
              <a:t>SQLite </a:t>
            </a:r>
            <a:r>
              <a:rPr lang="en-US"/>
              <a:t>database via </a:t>
            </a:r>
            <a:r>
              <a:rPr lang="en-US" b="1"/>
              <a:t>SQLAlchemy</a:t>
            </a:r>
            <a:r>
              <a:rPr lang="en-US"/>
              <a:t>.</a:t>
            </a:r>
          </a:p>
          <a:p>
            <a:r>
              <a:rPr lang="en-US"/>
              <a:t>Flow</a:t>
            </a:r>
          </a:p>
          <a:p>
            <a:pPr lvl="1"/>
            <a:r>
              <a:rPr lang="en-US"/>
              <a:t>Questions will be </a:t>
            </a:r>
            <a:r>
              <a:rPr lang="en-US" b="1"/>
              <a:t>rewritten to SQL query</a:t>
            </a:r>
            <a:r>
              <a:rPr lang="en-US"/>
              <a:t> via a LLM with prompts of schema description + few-shot example.</a:t>
            </a:r>
          </a:p>
          <a:p>
            <a:pPr lvl="1"/>
            <a:r>
              <a:rPr lang="en-US"/>
              <a:t>SQL query will be run to retrieve context. </a:t>
            </a:r>
          </a:p>
          <a:p>
            <a:pPr lvl="2"/>
            <a:r>
              <a:rPr lang="en-US"/>
              <a:t>If no result found, rewrite question and route to Web search module for information.</a:t>
            </a:r>
          </a:p>
          <a:p>
            <a:pPr lvl="2"/>
            <a:r>
              <a:rPr lang="en-US"/>
              <a:t>Else, generate response with retrieved results.</a:t>
            </a:r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FE9E81-A306-A9C7-F47C-313E587A3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71" y="4255654"/>
            <a:ext cx="7904058" cy="201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0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CD26C-D011-C9D1-7F7F-5476A598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34882D-26E0-F2B9-FCB8-FCFEB8DF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6CBA62-D382-A4C5-0E92-86BAE509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1.3.4. Web search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77791-D764-5698-70B1-8D5CDFB5DA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Web search is used as a fallback when there is no relevant documents for RAG or no SQL result for Text2SQL.</a:t>
            </a:r>
          </a:p>
          <a:p>
            <a:r>
              <a:rPr lang="en-US"/>
              <a:t>Utilized </a:t>
            </a:r>
            <a:r>
              <a:rPr lang="en-US" b="1">
                <a:hlinkClick r:id="rId2"/>
              </a:rPr>
              <a:t>Tavily Web Search</a:t>
            </a:r>
            <a:r>
              <a:rPr lang="en-US"/>
              <a:t>:</a:t>
            </a:r>
          </a:p>
          <a:p>
            <a:pPr lvl="1"/>
            <a:r>
              <a:rPr lang="en-US"/>
              <a:t>A </a:t>
            </a:r>
            <a:r>
              <a:rPr lang="en-US" b="1"/>
              <a:t>search engine</a:t>
            </a:r>
            <a:r>
              <a:rPr lang="en-US"/>
              <a:t> optimized for LLMs, aimed at </a:t>
            </a:r>
            <a:r>
              <a:rPr lang="en-US" b="1"/>
              <a:t>efficient, quick and persistent search results.</a:t>
            </a:r>
          </a:p>
          <a:p>
            <a:pPr lvl="1"/>
            <a:r>
              <a:rPr lang="en-US"/>
              <a:t>Real time information.</a:t>
            </a:r>
          </a:p>
          <a:p>
            <a:pPr lvl="1"/>
            <a:r>
              <a:rPr lang="en-US"/>
              <a:t>Easy to integrate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38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7513D-63CB-51BC-6636-8914CBC5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A9134E-4BC7-BA3F-5333-3FD5D78C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9A2C00-408D-5CC1-AF24-745AE06E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1.3.4. Web search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3020A-F78F-C844-F96A-91D5F7D629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How Tavily differs from other search engines?</a:t>
            </a:r>
          </a:p>
          <a:p>
            <a:pPr lvl="1"/>
            <a:r>
              <a:rPr lang="en-US"/>
              <a:t>Traditional search APIs sometimes are </a:t>
            </a:r>
            <a:r>
              <a:rPr lang="en-US" b="1"/>
              <a:t>irrelevant</a:t>
            </a:r>
            <a:r>
              <a:rPr lang="en-US"/>
              <a:t> to search goal and returns </a:t>
            </a:r>
            <a:r>
              <a:rPr lang="en-US" b="1"/>
              <a:t>simple URLs</a:t>
            </a:r>
            <a:r>
              <a:rPr lang="en-US"/>
              <a:t> or </a:t>
            </a:r>
            <a:r>
              <a:rPr lang="en-US" b="1"/>
              <a:t>snippet of content </a:t>
            </a:r>
            <a:r>
              <a:rPr lang="en-US"/>
              <a:t>(not always relevant).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Need to scrape the web for content, filter information,…</a:t>
            </a:r>
          </a:p>
          <a:p>
            <a:r>
              <a:rPr lang="en-US">
                <a:sym typeface="Wingdings" panose="05000000000000000000" pitchFamily="2" charset="2"/>
              </a:rPr>
              <a:t>Tavily handles </a:t>
            </a:r>
            <a:r>
              <a:rPr lang="en-US" b="1">
                <a:sym typeface="Wingdings" panose="05000000000000000000" pitchFamily="2" charset="2"/>
              </a:rPr>
              <a:t>all in 1 API call.</a:t>
            </a:r>
          </a:p>
          <a:p>
            <a:pPr lvl="1"/>
            <a:r>
              <a:rPr lang="en-US" b="1"/>
              <a:t>aggregates up to 20 sites </a:t>
            </a:r>
            <a:r>
              <a:rPr lang="en-US"/>
              <a:t>per a single API call</a:t>
            </a:r>
          </a:p>
          <a:p>
            <a:pPr lvl="1"/>
            <a:r>
              <a:rPr lang="en-US"/>
              <a:t>uses </a:t>
            </a:r>
            <a:r>
              <a:rPr lang="en-US" b="1"/>
              <a:t>proprietary AI </a:t>
            </a:r>
            <a:r>
              <a:rPr lang="en-US"/>
              <a:t>to </a:t>
            </a:r>
            <a:r>
              <a:rPr lang="en-US" b="1"/>
              <a:t>score</a:t>
            </a:r>
            <a:r>
              <a:rPr lang="en-US"/>
              <a:t>, </a:t>
            </a:r>
            <a:r>
              <a:rPr lang="en-US" b="1"/>
              <a:t>filter</a:t>
            </a:r>
            <a:r>
              <a:rPr lang="en-US"/>
              <a:t> and </a:t>
            </a:r>
            <a:r>
              <a:rPr lang="en-US" b="1"/>
              <a:t>rank</a:t>
            </a:r>
            <a:r>
              <a:rPr lang="en-US"/>
              <a:t> the top most relevant sources and content to your task, query or goal.</a:t>
            </a:r>
          </a:p>
          <a:p>
            <a:pPr lvl="1"/>
            <a:r>
              <a:rPr lang="en-US"/>
              <a:t>Can add </a:t>
            </a:r>
            <a:r>
              <a:rPr lang="en-US" b="1"/>
              <a:t>custom fields</a:t>
            </a:r>
            <a:r>
              <a:rPr lang="en-US"/>
              <a:t> such as </a:t>
            </a:r>
            <a:r>
              <a:rPr lang="en-US" b="1"/>
              <a:t>context</a:t>
            </a:r>
            <a:r>
              <a:rPr lang="en-US"/>
              <a:t> and </a:t>
            </a:r>
            <a:r>
              <a:rPr lang="en-US" b="1"/>
              <a:t>limit response tokens</a:t>
            </a:r>
            <a:r>
              <a:rPr lang="en-US"/>
              <a:t> to enable the optimal search experience for LLMs.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 Versitile, customizable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48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C678-D8D5-FF8B-9B36-4E900CD2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2C980B-B896-A541-ED68-D05FE87F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30ABDA-F4BE-5BE2-66E7-4F295CDC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Results and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838AD-876F-2CCD-7717-8BEE891959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I evaluated the system with both human evaluation and metrical evaluation.</a:t>
            </a:r>
          </a:p>
          <a:p>
            <a:r>
              <a:rPr lang="en-US" sz="2400"/>
              <a:t>Evaluation is splitted into modules, each module having its own evaluation metrics.</a:t>
            </a:r>
            <a:endParaRPr lang="en-US" sz="2000"/>
          </a:p>
          <a:p>
            <a:r>
              <a:rPr lang="en-US" sz="2400"/>
              <a:t>All of the evaluation requires creation of test dataset by hand and by synthesizing, some metrics require an evaluator LLM (</a:t>
            </a:r>
            <a:r>
              <a:rPr lang="en-US" sz="2400" b="1"/>
              <a:t>GPT-4o-mini</a:t>
            </a:r>
            <a:r>
              <a:rPr lang="en-US" sz="2400"/>
              <a:t> in this case).</a:t>
            </a:r>
          </a:p>
          <a:p>
            <a:pPr marL="0" indent="0">
              <a:buNone/>
            </a:pPr>
            <a:r>
              <a:rPr lang="en-US" sz="2400"/>
              <a:t>-&gt; Have only finished the RAG evaluation due to resource limitation.</a:t>
            </a:r>
          </a:p>
        </p:txBody>
      </p:sp>
    </p:spTree>
    <p:extLst>
      <p:ext uri="{BB962C8B-B14F-4D97-AF65-F5344CB8AC3E}">
        <p14:creationId xmlns:p14="http://schemas.microsoft.com/office/powerpoint/2010/main" val="949115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96A9B-3BEF-7405-D489-9972503F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E6489C-1583-ED7E-CAF0-E6723BCB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84A9FA-F638-EA25-A5FF-0CF74C616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 Evaluation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5FD1B-14F8-991E-61EB-0B16A64CAB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Evaluation metrics: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All evaluation are done via </a:t>
            </a:r>
            <a:r>
              <a:rPr lang="en-US" sz="2400">
                <a:hlinkClick r:id="rId2"/>
              </a:rPr>
              <a:t>Ragas</a:t>
            </a:r>
            <a:endParaRPr lang="en-US" sz="2400"/>
          </a:p>
          <a:p>
            <a:pPr lvl="1"/>
            <a:r>
              <a:rPr lang="en-US" sz="2000"/>
              <a:t>Ragas is a library that provides tools to supercharge the evaluation of Large Language Model (LLM) applications. </a:t>
            </a:r>
          </a:p>
          <a:p>
            <a:pPr lvl="1"/>
            <a:r>
              <a:rPr lang="en-US" sz="2000"/>
              <a:t>Designed to help you </a:t>
            </a:r>
            <a:r>
              <a:rPr lang="en-US" sz="2000" b="1"/>
              <a:t>evaluate your LLM applications </a:t>
            </a:r>
            <a:r>
              <a:rPr lang="en-US" sz="2000"/>
              <a:t>with ease and confidence.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4BD8B-538E-8AEC-D33C-91E5C2451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57" y="1418963"/>
            <a:ext cx="6239746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84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A30B0-6434-9BA7-0632-ADA9DE25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D8BF10-27D3-EC5A-EB33-A8BBC8F7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757661-FAEF-2C82-4F0B-438BD901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1.4.1. RAG evaluation: Faithfulness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B1CEF-FEEA-70DD-4C3F-BC31CAA4D7E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Faithfulness:</a:t>
            </a:r>
          </a:p>
          <a:p>
            <a:pPr lvl="1"/>
            <a:r>
              <a:rPr lang="en-US" sz="2200"/>
              <a:t>measures how </a:t>
            </a:r>
            <a:r>
              <a:rPr lang="en-US" sz="2200" b="1"/>
              <a:t>factually consistent </a:t>
            </a:r>
            <a:r>
              <a:rPr lang="en-US" sz="2200"/>
              <a:t>a response is with the retrieved context.</a:t>
            </a:r>
          </a:p>
          <a:p>
            <a:pPr lvl="1"/>
            <a:r>
              <a:rPr lang="en-US" sz="2200"/>
              <a:t>Ranges from 0-1, higher is better</a:t>
            </a:r>
          </a:p>
          <a:p>
            <a:r>
              <a:rPr lang="en-US" sz="2400"/>
              <a:t>A response is considered </a:t>
            </a:r>
            <a:r>
              <a:rPr lang="en-US" sz="2400" b="1"/>
              <a:t>faithful</a:t>
            </a:r>
            <a:r>
              <a:rPr lang="en-US" sz="2400"/>
              <a:t> if </a:t>
            </a:r>
            <a:r>
              <a:rPr lang="en-US" sz="2400" b="1"/>
              <a:t>all its claims </a:t>
            </a:r>
            <a:r>
              <a:rPr lang="en-US" sz="2400"/>
              <a:t>can be supported by the retrieved context.</a:t>
            </a:r>
          </a:p>
          <a:p>
            <a:pPr marL="457200" lvl="1" indent="0">
              <a:buNone/>
            </a:pPr>
            <a:r>
              <a:rPr lang="en-US" sz="2000"/>
              <a:t>1. Identify all the claims in the response.</a:t>
            </a:r>
          </a:p>
          <a:p>
            <a:pPr marL="457200" lvl="1" indent="0">
              <a:buNone/>
            </a:pPr>
            <a:r>
              <a:rPr lang="en-US" sz="2000"/>
              <a:t>2. Check each claim to see if it can be inferred from the retrieved context.</a:t>
            </a:r>
          </a:p>
          <a:p>
            <a:pPr marL="457200" lvl="1" indent="0">
              <a:buNone/>
            </a:pPr>
            <a:r>
              <a:rPr lang="en-US" sz="2000"/>
              <a:t>3. Compute the faithfulness score using the formula:</a:t>
            </a:r>
          </a:p>
          <a:p>
            <a:pPr lvl="1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4680AB-0E85-81D8-67E1-8F77C1657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46" y="4524227"/>
            <a:ext cx="8287907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67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F431-64DD-976D-C0BC-1CBEA685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F1A80-A567-12CE-CDCD-9C06AAD5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A3E2F5-47A3-E664-253C-FF19CEAE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1.4.1. RAG evaluation: Response Relevancy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2B2D8-9275-106A-48C3-DF5C8D003B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Response relevancy:</a:t>
            </a:r>
          </a:p>
          <a:p>
            <a:pPr lvl="1"/>
            <a:r>
              <a:rPr lang="en-US" sz="2200"/>
              <a:t>measures how relevant a response is to the user input</a:t>
            </a:r>
          </a:p>
          <a:p>
            <a:pPr lvl="1"/>
            <a:r>
              <a:rPr lang="en-US" sz="2200" b="1"/>
              <a:t>Higher scores </a:t>
            </a:r>
            <a:r>
              <a:rPr lang="en-US" sz="2200"/>
              <a:t>indicate </a:t>
            </a:r>
            <a:r>
              <a:rPr lang="en-US" sz="2200" b="1"/>
              <a:t>better alignment </a:t>
            </a:r>
            <a:r>
              <a:rPr lang="en-US" sz="2200"/>
              <a:t>with the user input, while </a:t>
            </a:r>
            <a:r>
              <a:rPr lang="en-US" sz="2200" b="1"/>
              <a:t>lower scores </a:t>
            </a:r>
            <a:r>
              <a:rPr lang="en-US" sz="2200"/>
              <a:t>are given if the response is </a:t>
            </a:r>
            <a:r>
              <a:rPr lang="en-US" sz="2200" b="1"/>
              <a:t>incomplete</a:t>
            </a:r>
            <a:r>
              <a:rPr lang="en-US" sz="2200"/>
              <a:t> or includes </a:t>
            </a:r>
            <a:r>
              <a:rPr lang="en-US" sz="2200" b="1"/>
              <a:t>redundant information</a:t>
            </a:r>
            <a:r>
              <a:rPr lang="en-US" sz="2200"/>
              <a:t>.</a:t>
            </a:r>
          </a:p>
          <a:p>
            <a:r>
              <a:rPr lang="en-US" sz="2400"/>
              <a:t>An answer is considered relevant if it directly and appropriately addresses the original question. </a:t>
            </a:r>
          </a:p>
          <a:p>
            <a:pPr lvl="1"/>
            <a:r>
              <a:rPr lang="en-US" sz="2000"/>
              <a:t>This metric focuses on how well the answer matches the intent of the question, </a:t>
            </a:r>
            <a:r>
              <a:rPr lang="en-US" sz="2000" b="1"/>
              <a:t>without evaluating factual accuracy</a:t>
            </a:r>
            <a:r>
              <a:rPr lang="en-US" sz="2000"/>
              <a:t>. </a:t>
            </a:r>
          </a:p>
          <a:p>
            <a:pPr lvl="1"/>
            <a:r>
              <a:rPr lang="en-US" sz="2000"/>
              <a:t>It penalizes answers that are incomplete or include unnecessary details.</a:t>
            </a:r>
          </a:p>
        </p:txBody>
      </p:sp>
    </p:spTree>
    <p:extLst>
      <p:ext uri="{BB962C8B-B14F-4D97-AF65-F5344CB8AC3E}">
        <p14:creationId xmlns:p14="http://schemas.microsoft.com/office/powerpoint/2010/main" val="3007303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FD2AC-76C7-B8B1-F9BB-9AC8DB87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9E867D-6F20-BC85-F9DC-3708FB65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F34ED8-2628-FB65-66D8-86BE4257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1.4.1. RAG evaluation: Response Relevancy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CAE9B-A47A-C0FB-3329-7DB67D22B0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This metric is calculated using the </a:t>
            </a:r>
            <a:r>
              <a:rPr lang="en-US" sz="2400" b="1"/>
              <a:t>user_input </a:t>
            </a:r>
            <a:r>
              <a:rPr lang="en-US" sz="2400"/>
              <a:t>and the </a:t>
            </a:r>
            <a:r>
              <a:rPr lang="en-US" sz="2400" b="1"/>
              <a:t>response</a:t>
            </a:r>
            <a:r>
              <a:rPr lang="en-US" sz="2400"/>
              <a:t> as follows:</a:t>
            </a:r>
          </a:p>
          <a:p>
            <a:pPr lvl="1"/>
            <a:r>
              <a:rPr lang="en-US" sz="2000"/>
              <a:t>Generate a set of </a:t>
            </a:r>
            <a:r>
              <a:rPr lang="en-US" sz="2000" b="1"/>
              <a:t>artificial questions </a:t>
            </a:r>
            <a:r>
              <a:rPr lang="en-US" sz="2000"/>
              <a:t>(default is 3) based on the response. These questions are </a:t>
            </a:r>
            <a:r>
              <a:rPr lang="en-US" sz="2000" b="1"/>
              <a:t>designed to reflect the content </a:t>
            </a:r>
            <a:r>
              <a:rPr lang="en-US" sz="2000"/>
              <a:t>of the response.</a:t>
            </a:r>
          </a:p>
          <a:p>
            <a:pPr lvl="1"/>
            <a:r>
              <a:rPr lang="en-US" sz="2000"/>
              <a:t>Compute the </a:t>
            </a:r>
            <a:r>
              <a:rPr lang="en-US" sz="2000" b="1"/>
              <a:t>cosine similarity </a:t>
            </a:r>
            <a:r>
              <a:rPr lang="en-US" sz="2000"/>
              <a:t>between the embedding of the user input and the embedding of each generated question.</a:t>
            </a:r>
          </a:p>
          <a:p>
            <a:pPr lvl="1"/>
            <a:r>
              <a:rPr lang="en-US" sz="2000"/>
              <a:t>Take the </a:t>
            </a:r>
            <a:r>
              <a:rPr lang="en-US" sz="2000" b="1"/>
              <a:t>average</a:t>
            </a:r>
            <a:r>
              <a:rPr lang="en-US" sz="2000"/>
              <a:t> of these cosine similarity scores to get the Answer Relevancy:</a:t>
            </a:r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15C34-CF6B-1712-B8B9-49E3FB6CA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30" y="3770874"/>
            <a:ext cx="6086127" cy="239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78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27ECD-487D-46BF-2E62-4ADAE25CA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327353-E12F-D8DD-025F-7F21CF1E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59DF13-6B8D-E985-22AB-6580DD7C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1.4.1. RAG evaluation: Semantic Similarity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587-140A-E666-2EEE-C65A5691D9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200"/>
              <a:t>Semantic Similarity</a:t>
            </a:r>
          </a:p>
          <a:p>
            <a:pPr lvl="1"/>
            <a:r>
              <a:rPr lang="en-US" sz="1800"/>
              <a:t>Measures </a:t>
            </a:r>
            <a:r>
              <a:rPr lang="en-US" sz="1800" b="1"/>
              <a:t>semantic resemblance </a:t>
            </a:r>
            <a:r>
              <a:rPr lang="en-US" sz="1800"/>
              <a:t>between the </a:t>
            </a:r>
            <a:r>
              <a:rPr lang="en-US" sz="1800" b="1"/>
              <a:t>generated answer </a:t>
            </a:r>
            <a:r>
              <a:rPr lang="en-US" sz="1800"/>
              <a:t>and the </a:t>
            </a:r>
            <a:r>
              <a:rPr lang="en-US" sz="1800" b="1"/>
              <a:t>ground truth</a:t>
            </a:r>
          </a:p>
          <a:p>
            <a:pPr lvl="1"/>
            <a:r>
              <a:rPr lang="en-US" sz="1800"/>
              <a:t>Ranges from 0 – 1, higher is better.</a:t>
            </a:r>
          </a:p>
          <a:p>
            <a:pPr lvl="1"/>
            <a:r>
              <a:rPr lang="en-US" sz="1800"/>
              <a:t>Evaluator embedding model: text-embedding-3-large. </a:t>
            </a:r>
          </a:p>
          <a:p>
            <a:r>
              <a:rPr lang="en-US" sz="2200"/>
              <a:t>How it is calculated:</a:t>
            </a:r>
          </a:p>
          <a:p>
            <a:pPr lvl="1"/>
            <a:r>
              <a:rPr lang="en-US" sz="1800"/>
              <a:t>Vectorize the ground truth answer using the specified embedding model.</a:t>
            </a:r>
          </a:p>
          <a:p>
            <a:pPr lvl="1"/>
            <a:r>
              <a:rPr lang="en-US" sz="1800"/>
              <a:t>Vectorize the generated answer using the same embedding model.</a:t>
            </a:r>
          </a:p>
          <a:p>
            <a:pPr lvl="1"/>
            <a:r>
              <a:rPr lang="en-US" sz="1800"/>
              <a:t>Compute the cosine similarity between the two vectors.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EE3C0-5924-6201-FDDF-013F4A37C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78" y="4151382"/>
            <a:ext cx="8011643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99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2268-F598-77F6-12CE-F985FF78A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D77C36-313D-E93E-B7FD-8AD46E7A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06B96A-ACC1-65FD-3733-C4B8C2E5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1.4.1. RAG evaluation: Factual Correctness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1D12E-FE9E-6BBC-A13C-AD6F026498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Factual Correctness</a:t>
            </a:r>
          </a:p>
          <a:p>
            <a:pPr lvl="1"/>
            <a:r>
              <a:rPr lang="en-US" sz="2000"/>
              <a:t>compares and evaluates the </a:t>
            </a:r>
            <a:r>
              <a:rPr lang="en-US" sz="2000" b="1"/>
              <a:t>factual accuracy </a:t>
            </a:r>
            <a:r>
              <a:rPr lang="en-US" sz="2000"/>
              <a:t>of the generated </a:t>
            </a:r>
            <a:r>
              <a:rPr lang="en-US" sz="2000" b="1"/>
              <a:t>response</a:t>
            </a:r>
            <a:r>
              <a:rPr lang="en-US" sz="2000"/>
              <a:t> with the </a:t>
            </a:r>
            <a:r>
              <a:rPr lang="en-US" sz="2000" b="1"/>
              <a:t>reference.</a:t>
            </a:r>
          </a:p>
          <a:p>
            <a:pPr lvl="1"/>
            <a:r>
              <a:rPr lang="en-US" sz="2000"/>
              <a:t>Ranges from 0 – 1, higher is better.</a:t>
            </a:r>
          </a:p>
          <a:p>
            <a:r>
              <a:rPr lang="en-US" sz="2400"/>
              <a:t>How it is calculated:</a:t>
            </a:r>
          </a:p>
          <a:p>
            <a:pPr lvl="1"/>
            <a:r>
              <a:rPr lang="en-US" sz="2000"/>
              <a:t>uses the LLM to first break down the response and reference into claims </a:t>
            </a:r>
          </a:p>
          <a:p>
            <a:pPr lvl="1"/>
            <a:r>
              <a:rPr lang="en-US" sz="2000"/>
              <a:t>uses natural language inference to determine the factual overlap between the response and the reference.</a:t>
            </a:r>
          </a:p>
          <a:p>
            <a:r>
              <a:rPr lang="en-US" sz="2400"/>
              <a:t>Factual overlap is quantified using precision, recall, and F1 score. Default is F1.</a:t>
            </a:r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53C102-660D-C691-8537-E1D4CC567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76" y="4736447"/>
            <a:ext cx="6677047" cy="140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82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9C632-7097-F739-58FB-479EEF5B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1BFD8-9F8E-2352-E07A-48C481E5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51371F-A5A1-5D0F-0E9C-81E938B5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1.4.1. RAG evaluation: Result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98049-E77C-136E-28B9-52DF15A9C4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Results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System tends to output correct information and are highly similar to the questions. However, information might be missing or redundant compared to the context.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pPr marL="0" indent="0">
              <a:buNone/>
            </a:pPr>
            <a:endParaRPr lang="en-US" sz="2400"/>
          </a:p>
          <a:p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29EBED-AA23-CA63-E2AA-F3092F8BB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648" y="1210548"/>
            <a:ext cx="2830775" cy="252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84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81E3-8465-AA67-0541-67AF3040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DCEDB-AE33-68F2-A96C-180D3CF6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AC2F86-039D-39E2-D752-96FD7E8B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1.4.2. Text2SQL evaluation (Plan)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92C4-1B57-6778-4077-770FE0F272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SQL Query Equivalence:</a:t>
            </a:r>
          </a:p>
          <a:p>
            <a:pPr lvl="1"/>
            <a:r>
              <a:rPr lang="en-US" sz="2200"/>
              <a:t>A metric that can be used to evaluate the equivalence of response query with reference query.</a:t>
            </a:r>
          </a:p>
          <a:p>
            <a:pPr lvl="1"/>
            <a:r>
              <a:rPr lang="en-US" sz="2200"/>
              <a:t>Also needs database schema.</a:t>
            </a:r>
          </a:p>
          <a:p>
            <a:pPr lvl="1"/>
            <a:r>
              <a:rPr lang="en-US" sz="2200"/>
              <a:t>A binary metric, 0 if not similar, 1 if similar semantically.</a:t>
            </a:r>
          </a:p>
          <a:p>
            <a:r>
              <a:rPr lang="en-US" sz="2600"/>
              <a:t>Have not tested</a:t>
            </a:r>
          </a:p>
          <a:p>
            <a:pPr lvl="1"/>
            <a:r>
              <a:rPr lang="en-US" sz="2200"/>
              <a:t>Test dataset creation time is time consuming.</a:t>
            </a:r>
          </a:p>
          <a:p>
            <a:pPr lvl="1"/>
            <a:r>
              <a:rPr lang="en-US" sz="2200"/>
              <a:t>Text2SQL still needs improving.</a:t>
            </a:r>
          </a:p>
        </p:txBody>
      </p:sp>
    </p:spTree>
    <p:extLst>
      <p:ext uri="{BB962C8B-B14F-4D97-AF65-F5344CB8AC3E}">
        <p14:creationId xmlns:p14="http://schemas.microsoft.com/office/powerpoint/2010/main" val="4102801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BAF4-6D36-1952-D868-27F57615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378DC1-B9B0-45A0-E826-F14FF095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A5AD2-5038-8D37-A0A7-D057DDAC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1.4.3. Router evaluation (Plan)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7119A-EBEE-E3B4-4EBA-44F2F60273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600"/>
              <a:t>Module call accuracy</a:t>
            </a:r>
          </a:p>
          <a:p>
            <a:pPr lvl="1"/>
            <a:r>
              <a:rPr lang="en-US" sz="2200"/>
              <a:t>Evaluate the accuracy of the module chosen based on user input.</a:t>
            </a:r>
          </a:p>
          <a:p>
            <a:pPr lvl="1"/>
            <a:r>
              <a:rPr lang="en-US" sz="2200"/>
              <a:t>A binary metric, 0 being inaccurate and 1 being accurate.</a:t>
            </a:r>
          </a:p>
          <a:p>
            <a:pPr lvl="1"/>
            <a:r>
              <a:rPr lang="en-US" sz="2200"/>
              <a:t>4 labels: irrelevant, RAG, Text2SQL, Websearch.</a:t>
            </a:r>
          </a:p>
          <a:p>
            <a:r>
              <a:rPr lang="en-US" sz="2600"/>
              <a:t>To be done later.</a:t>
            </a:r>
          </a:p>
        </p:txBody>
      </p:sp>
    </p:spTree>
    <p:extLst>
      <p:ext uri="{BB962C8B-B14F-4D97-AF65-F5344CB8AC3E}">
        <p14:creationId xmlns:p14="http://schemas.microsoft.com/office/powerpoint/2010/main" val="2986463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77E56-4B57-4482-6686-64C389E5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43B0F3-4834-57DF-BAF2-C4A559CF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533B14-726A-79CE-A41C-B9411A99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1.5. Challenges and Future work</a:t>
            </a:r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0C6329-06A9-37C0-0A55-AFF753FA3F8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4950" y="1388803"/>
            <a:ext cx="8674100" cy="4080394"/>
          </a:xfrm>
        </p:spPr>
      </p:pic>
    </p:spTree>
    <p:extLst>
      <p:ext uri="{BB962C8B-B14F-4D97-AF65-F5344CB8AC3E}">
        <p14:creationId xmlns:p14="http://schemas.microsoft.com/office/powerpoint/2010/main" val="3747606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D953-6C38-057B-3D24-7E5149DC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1D64B3-4CD9-B97E-1390-24373AB49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A0F8E-D6A3-505B-3D6E-3EC26C16B49C}"/>
              </a:ext>
            </a:extLst>
          </p:cNvPr>
          <p:cNvSpPr txBox="1"/>
          <p:nvPr/>
        </p:nvSpPr>
        <p:spPr>
          <a:xfrm>
            <a:off x="3433665" y="2873829"/>
            <a:ext cx="5598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</a:t>
            </a:r>
            <a:r>
              <a:rPr lang="en-US" sz="24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Visual Question Answering</a:t>
            </a:r>
          </a:p>
          <a:p>
            <a:endParaRPr lang="vi-VN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829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113F4-6EFA-D9A3-1061-D7B8B543B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438AB8-47D6-CD38-C17C-05E190C9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32BA17-E277-2CBA-98CB-A4978A15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2.1. Introduction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6D5D9-68BD-004D-6D82-319CAE89AE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600"/>
              <a:t>Motivation</a:t>
            </a:r>
          </a:p>
          <a:p>
            <a:pPr lvl="1"/>
            <a:r>
              <a:rPr lang="en-US" sz="2200"/>
              <a:t>Current Vision Language models are either too large or underperform, or close-sourced.</a:t>
            </a:r>
          </a:p>
          <a:p>
            <a:pPr lvl="1"/>
            <a:r>
              <a:rPr lang="en-US" sz="2200"/>
              <a:t>Sacrifice unimodal performance for multimodal.</a:t>
            </a:r>
          </a:p>
          <a:p>
            <a:r>
              <a:rPr lang="en-US" sz="2600"/>
              <a:t>Goal</a:t>
            </a:r>
          </a:p>
          <a:p>
            <a:pPr lvl="1"/>
            <a:r>
              <a:rPr lang="en-US" sz="2200"/>
              <a:t>Create a Visual Question answering model that is lightweight, yet still achieving on par performance with big models.</a:t>
            </a:r>
          </a:p>
        </p:txBody>
      </p:sp>
    </p:spTree>
    <p:extLst>
      <p:ext uri="{BB962C8B-B14F-4D97-AF65-F5344CB8AC3E}">
        <p14:creationId xmlns:p14="http://schemas.microsoft.com/office/powerpoint/2010/main" val="2688002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3245-BD80-BE0F-B830-F389AC33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A0E7F3-1B39-592F-EC1B-E1664361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D574C-50B4-BA96-3FCA-88D97989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2.1.1. Proposed method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A6303-2C18-50BD-BB5B-CF4A4ABBB8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600"/>
              <a:t>Finetune the PaliGemma model</a:t>
            </a:r>
          </a:p>
          <a:p>
            <a:pPr lvl="1"/>
            <a:r>
              <a:rPr lang="en-US" sz="2200"/>
              <a:t>A visual language model built to cover standard tasks such as image classification, captioning,visual question-answering and dialogue.</a:t>
            </a:r>
          </a:p>
          <a:p>
            <a:pPr lvl="1"/>
            <a:r>
              <a:rPr lang="en-US" sz="2200"/>
              <a:t>Based on Pali-3 architecture but utilizes open-source models to compose the architecture</a:t>
            </a:r>
          </a:p>
          <a:p>
            <a:pPr lvl="1"/>
            <a:r>
              <a:rPr lang="en-US" sz="2200"/>
              <a:t>3B parameters</a:t>
            </a:r>
          </a:p>
          <a:p>
            <a:pPr lvl="2"/>
            <a:r>
              <a:rPr lang="en-US" sz="1800"/>
              <a:t>Still too heavy for our resource since image-text tasks require significantly more memory than text-only tasks.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sz="1800">
                <a:sym typeface="Wingdings" panose="05000000000000000000" pitchFamily="2" charset="2"/>
              </a:rPr>
              <a:t>Quantized Low Rank Adaptation</a:t>
            </a:r>
          </a:p>
          <a:p>
            <a:r>
              <a:rPr lang="en-US" sz="2600">
                <a:sym typeface="Wingdings" panose="05000000000000000000" pitchFamily="2" charset="2"/>
              </a:rPr>
              <a:t>Build and train a baseline model for comparison.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509477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F4F8-2B59-AF77-F289-E2E50618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58D3CC-B9C2-5536-F3F6-6C3297F6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FDB534-C165-6C58-B2F3-2FE9F6F27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2.2. Data preparation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048F3-B617-A144-3E28-C97D893DB6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600"/>
              <a:t>Dataset: VizWiz-VQA dataset</a:t>
            </a:r>
          </a:p>
          <a:p>
            <a:pPr lvl="1"/>
            <a:r>
              <a:rPr lang="en-US" sz="2000"/>
              <a:t>Answer Visual Question for People Who Are Blind</a:t>
            </a:r>
          </a:p>
          <a:p>
            <a:pPr lvl="1"/>
            <a:r>
              <a:rPr lang="en-US" sz="2000"/>
              <a:t>Blind people take image of something + a question, gather answer from 10 people/question</a:t>
            </a:r>
          </a:p>
          <a:p>
            <a:r>
              <a:rPr lang="en-US" sz="2400"/>
              <a:t>Dataset contains:</a:t>
            </a:r>
          </a:p>
          <a:p>
            <a:pPr lvl="1"/>
            <a:r>
              <a:rPr lang="en-US" sz="2000"/>
              <a:t>20,523 training image/question pairs.</a:t>
            </a:r>
          </a:p>
          <a:p>
            <a:pPr lvl="1"/>
            <a:r>
              <a:rPr lang="en-US" sz="2000"/>
              <a:t>205,230 training answer/answer confidence pairs.</a:t>
            </a:r>
          </a:p>
          <a:p>
            <a:pPr lvl="1"/>
            <a:r>
              <a:rPr lang="en-US" sz="2000"/>
              <a:t>4,319 validation image/question pairs.</a:t>
            </a:r>
          </a:p>
          <a:p>
            <a:pPr lvl="1"/>
            <a:r>
              <a:rPr lang="en-US" sz="2000"/>
              <a:t>43,190 validation answer/answer confidence pairs.</a:t>
            </a:r>
          </a:p>
          <a:p>
            <a:pPr lvl="1"/>
            <a:r>
              <a:rPr lang="en-US" sz="2000"/>
              <a:t>8,000 test image/question pairs.</a:t>
            </a:r>
          </a:p>
        </p:txBody>
      </p:sp>
    </p:spTree>
    <p:extLst>
      <p:ext uri="{BB962C8B-B14F-4D97-AF65-F5344CB8AC3E}">
        <p14:creationId xmlns:p14="http://schemas.microsoft.com/office/powerpoint/2010/main" val="3633133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889B-F5ED-14CB-4C3E-7EE95951B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408FFB-C403-A157-C438-E1F16556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E15ED9-9AB5-18D7-61A8-E0E903FF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2.2. Data preparation</a:t>
            </a:r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2ECD74-70A0-8D7D-74B8-B7CEA263C0A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70139" y="1202957"/>
            <a:ext cx="8554644" cy="4201111"/>
          </a:xfrm>
        </p:spPr>
      </p:pic>
    </p:spTree>
    <p:extLst>
      <p:ext uri="{BB962C8B-B14F-4D97-AF65-F5344CB8AC3E}">
        <p14:creationId xmlns:p14="http://schemas.microsoft.com/office/powerpoint/2010/main" val="1085720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845D-FA77-F287-28E8-C579B641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DC2DEB-838C-07BC-88AD-3D8C476F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64B021-7381-453A-062B-24A7B5CC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2.2. Data preparation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48854-96DD-7B2D-4AB1-9A702C521B3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600"/>
              <a:t>Annotation: Data are annotated in a JSON file with the following fields</a:t>
            </a:r>
          </a:p>
          <a:p>
            <a:pPr lvl="1"/>
            <a:r>
              <a:rPr lang="en-US" sz="2200" b="1"/>
              <a:t>Answerable</a:t>
            </a:r>
            <a:r>
              <a:rPr lang="en-US" sz="2200"/>
              <a:t>: whether the question is answerable</a:t>
            </a:r>
          </a:p>
          <a:p>
            <a:pPr lvl="1"/>
            <a:r>
              <a:rPr lang="en-US" sz="2200" b="1"/>
              <a:t>Image</a:t>
            </a:r>
            <a:r>
              <a:rPr lang="en-US" sz="2200"/>
              <a:t>: image path</a:t>
            </a:r>
          </a:p>
          <a:p>
            <a:pPr lvl="1"/>
            <a:r>
              <a:rPr lang="en-US" sz="2200" b="1"/>
              <a:t>Question</a:t>
            </a:r>
          </a:p>
          <a:p>
            <a:pPr lvl="1"/>
            <a:r>
              <a:rPr lang="en-US" sz="2200" b="1"/>
              <a:t>Answer type</a:t>
            </a:r>
            <a:r>
              <a:rPr lang="en-US" sz="2200"/>
              <a:t>: answerable, unanswerable, unsuitable</a:t>
            </a:r>
          </a:p>
          <a:p>
            <a:pPr lvl="1"/>
            <a:r>
              <a:rPr lang="en-US" sz="2200" b="1"/>
              <a:t>Answers</a:t>
            </a:r>
            <a:r>
              <a:rPr lang="en-US" sz="2200"/>
              <a:t>: list of 10 answers recorded -&gt; most common is selected</a:t>
            </a:r>
          </a:p>
          <a:p>
            <a:pPr lvl="1"/>
            <a:endParaRPr lang="en-US" sz="1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A10114-FA26-2B16-D7C1-0E7598843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906" y="3598993"/>
            <a:ext cx="4717477" cy="262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603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6A19-B396-0D39-E373-1B682D68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88CCB-4020-E2C2-782A-0FDDA9A9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E84F28-EDD3-68E2-F6CD-488D9D64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2.3.1. Methods: PaliGemma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FE1D-2AF0-A6A5-C5F2-2E8A5CAFC6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PaliGemma architecture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Consist of 3 components</a:t>
            </a:r>
          </a:p>
          <a:p>
            <a:pPr lvl="1"/>
            <a:r>
              <a:rPr lang="en-US" sz="2000" b="1"/>
              <a:t>Image encoder</a:t>
            </a:r>
            <a:r>
              <a:rPr lang="en-US" sz="2000"/>
              <a:t>: SigLIP checkpoint</a:t>
            </a:r>
          </a:p>
          <a:p>
            <a:pPr lvl="1"/>
            <a:r>
              <a:rPr lang="en-US" sz="2000" b="1"/>
              <a:t>Decoder-only LM</a:t>
            </a:r>
            <a:r>
              <a:rPr lang="en-US" sz="2000"/>
              <a:t>: Gemma 2B, enough to surpass larger models like in Pali (mT5-XXL 13B)</a:t>
            </a:r>
          </a:p>
          <a:p>
            <a:pPr lvl="1"/>
            <a:r>
              <a:rPr lang="en-US" sz="2000" b="1"/>
              <a:t>Linear projection layer 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D8F07-5D87-1371-C41E-A0DAFBD38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164" y="1226721"/>
            <a:ext cx="5552498" cy="28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33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D7FB4-5E31-0E27-D497-5C391AD82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F34210-FE4B-1911-5168-18E9DD90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9D49E-A557-4862-1DD1-DEB28539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2.3.2. Baseline model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4E7AB-002A-E950-AAB9-BAD4698A51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We still follow the PaliGemma architecture, but use baseline models for each modality:</a:t>
            </a:r>
          </a:p>
          <a:p>
            <a:pPr lvl="1"/>
            <a:r>
              <a:rPr lang="en-US" sz="2000"/>
              <a:t>Vision encoder: A ResNet18 model.</a:t>
            </a:r>
          </a:p>
          <a:p>
            <a:pPr lvl="1"/>
            <a:r>
              <a:rPr lang="en-US" sz="2000"/>
              <a:t>NLTK for tokenize and LSTM for embedding (replacing the Gemma tokenizer).</a:t>
            </a:r>
          </a:p>
          <a:p>
            <a:pPr lvl="1"/>
            <a:r>
              <a:rPr lang="en-US" sz="2000"/>
              <a:t>Text decoder: A base Transformer decoder</a:t>
            </a:r>
          </a:p>
          <a:p>
            <a:r>
              <a:rPr lang="en-US" sz="2400"/>
              <a:t>Total: ~91 million parameters.</a:t>
            </a:r>
          </a:p>
          <a:p>
            <a:r>
              <a:rPr lang="en-US" sz="2400"/>
              <a:t>Vocabulary is built from the training dataset.</a:t>
            </a:r>
          </a:p>
          <a:p>
            <a:r>
              <a:rPr lang="en-US" sz="2400"/>
              <a:t>Training parameters:</a:t>
            </a:r>
          </a:p>
          <a:p>
            <a:pPr lvl="1"/>
            <a:r>
              <a:rPr lang="en-US" sz="2000"/>
              <a:t>Epoch: 10.</a:t>
            </a:r>
          </a:p>
          <a:p>
            <a:pPr lvl="1"/>
            <a:r>
              <a:rPr lang="en-US" sz="2000"/>
              <a:t>Learning rate: 0.001.</a:t>
            </a:r>
          </a:p>
          <a:p>
            <a:pPr lvl="1"/>
            <a:r>
              <a:rPr lang="en-US" sz="2000"/>
              <a:t>Loss function: Cross Entropy.</a:t>
            </a:r>
          </a:p>
          <a:p>
            <a:pPr lvl="1"/>
            <a:r>
              <a:rPr lang="en-US" sz="2000"/>
              <a:t>AdamW optimizer.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451442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4EBE6-A3E3-3065-5858-CF37796F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943B71-AE3C-C62B-43A9-1564E83D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17FB3F-5EFE-C2A8-3E14-8FE36965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2.3.3. LoRA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94330-A1DA-C3F5-19AA-DEA56DE09D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Low Rank Adaptation</a:t>
            </a:r>
          </a:p>
          <a:p>
            <a:pPr lvl="1"/>
            <a:r>
              <a:rPr lang="en-US" sz="2000"/>
              <a:t>A technique used to </a:t>
            </a:r>
            <a:r>
              <a:rPr lang="en-US" sz="2000" b="1"/>
              <a:t>enhance the efficiency</a:t>
            </a:r>
            <a:r>
              <a:rPr lang="en-US" sz="2000"/>
              <a:t> of training large language models. </a:t>
            </a:r>
          </a:p>
          <a:p>
            <a:pPr lvl="1"/>
            <a:r>
              <a:rPr lang="en-US" sz="2000"/>
              <a:t>It focuses on optimizing a </a:t>
            </a:r>
            <a:r>
              <a:rPr lang="en-US" sz="2000" b="1"/>
              <a:t>smaller number </a:t>
            </a:r>
            <a:r>
              <a:rPr lang="en-US" sz="2000"/>
              <a:t>of parameters by decomposing the </a:t>
            </a:r>
            <a:r>
              <a:rPr lang="en-US" sz="2000" b="1"/>
              <a:t>original parameter space </a:t>
            </a:r>
            <a:r>
              <a:rPr lang="en-US" sz="2000"/>
              <a:t>into </a:t>
            </a:r>
            <a:r>
              <a:rPr lang="en-US" sz="2000" b="1"/>
              <a:t>low-rank matrices</a:t>
            </a:r>
            <a:r>
              <a:rPr lang="en-US" sz="2000"/>
              <a:t>.</a:t>
            </a:r>
          </a:p>
          <a:p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1BBF59-BEFA-0CD2-1C96-7E134F77D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671" y="3429000"/>
            <a:ext cx="4058216" cy="543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7D33A1-854F-60BD-16DD-EA6EFC62F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51" y="2684933"/>
            <a:ext cx="3984887" cy="317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58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87038-0E16-9C90-D378-2E382DFAC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C87CD-CB5A-29D7-2676-B1DE3F64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F776E0-4205-0602-E894-1BA55ED5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2.3.4. QLoRA 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78567-D7FD-9612-FFDE-B181CAF61E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Quantized Low Rank Adapatation</a:t>
            </a:r>
          </a:p>
          <a:p>
            <a:pPr lvl="1"/>
            <a:r>
              <a:rPr lang="en-US" sz="2000"/>
              <a:t>An efficient finetuning approach that reduces </a:t>
            </a:r>
            <a:r>
              <a:rPr lang="en-US" sz="2000" b="1"/>
              <a:t>memory usage </a:t>
            </a:r>
            <a:r>
              <a:rPr lang="en-US" sz="2000"/>
              <a:t>enough to finetune a </a:t>
            </a:r>
            <a:r>
              <a:rPr lang="en-US" sz="2000" b="1"/>
              <a:t>65B</a:t>
            </a:r>
            <a:r>
              <a:rPr lang="en-US" sz="2000"/>
              <a:t> </a:t>
            </a:r>
            <a:r>
              <a:rPr lang="en-US" sz="2000" b="1"/>
              <a:t>parameter model </a:t>
            </a:r>
            <a:r>
              <a:rPr lang="en-US" sz="2000"/>
              <a:t>on a single </a:t>
            </a:r>
            <a:r>
              <a:rPr lang="en-US" sz="2000" b="1"/>
              <a:t>48GB GPU </a:t>
            </a:r>
            <a:r>
              <a:rPr lang="en-US" sz="2000"/>
              <a:t>while preserving full </a:t>
            </a:r>
            <a:r>
              <a:rPr lang="en-US" sz="2000" b="1"/>
              <a:t>16-bit finetuning task performance</a:t>
            </a:r>
            <a:r>
              <a:rPr lang="en-US" sz="2000"/>
              <a:t>. </a:t>
            </a:r>
          </a:p>
          <a:p>
            <a:pPr lvl="1"/>
            <a:r>
              <a:rPr lang="en-US" sz="2000"/>
              <a:t>QLORA backpropagatesgradients through a frozen, 4-bit quantized pretrained language model into Low Rank Adapters.</a:t>
            </a:r>
          </a:p>
          <a:p>
            <a:r>
              <a:rPr lang="en-US" sz="2400"/>
              <a:t>Key innovations to save memory</a:t>
            </a:r>
          </a:p>
          <a:p>
            <a:pPr lvl="1"/>
            <a:r>
              <a:rPr lang="en-US" sz="2000"/>
              <a:t>4-bit NormalFloat: a new data type that is information theoretically optimal for normally distributed weights.</a:t>
            </a:r>
          </a:p>
          <a:p>
            <a:pPr lvl="1"/>
            <a:r>
              <a:rPr lang="en-US" sz="2000"/>
              <a:t>Double Quantization: quantize the quantize constants</a:t>
            </a:r>
          </a:p>
          <a:p>
            <a:pPr lvl="1"/>
            <a:r>
              <a:rPr lang="en-US" sz="2000"/>
              <a:t>Paged Optimizers: use Nvidia unified memory to handle GPU mem limit. If GPU runs out, paged between CPU and GPU without error.</a:t>
            </a:r>
          </a:p>
          <a:p>
            <a:r>
              <a:rPr lang="en-US" sz="2400"/>
              <a:t>Finetune parameters:</a:t>
            </a:r>
          </a:p>
          <a:p>
            <a:pPr lvl="1"/>
            <a:r>
              <a:rPr lang="en-US" sz="2000"/>
              <a:t>Epoch: 1</a:t>
            </a:r>
          </a:p>
          <a:p>
            <a:pPr lvl="1"/>
            <a:r>
              <a:rPr lang="en-US" sz="2000"/>
              <a:t>Learning rate: 1e-5</a:t>
            </a:r>
          </a:p>
          <a:p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3A9F0-E6DF-BE09-5770-764DE0E48531}"/>
              </a:ext>
            </a:extLst>
          </p:cNvPr>
          <p:cNvSpPr txBox="1"/>
          <p:nvPr/>
        </p:nvSpPr>
        <p:spPr>
          <a:xfrm>
            <a:off x="3796379" y="5218982"/>
            <a:ext cx="3071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LoRA rank: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….</a:t>
            </a:r>
            <a:endParaRPr lang="vi-VN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764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796F0-05A9-DB29-A107-5EED7B61D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84F1C-B9A0-735A-5A86-D22D7C7E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FDBD4C-FC78-F69C-5A4C-CA29CC66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 Methods</a:t>
            </a:r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81CFA4-9E37-9F15-B988-A191A71C437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4823" y="1466248"/>
            <a:ext cx="8674100" cy="3640024"/>
          </a:xfrm>
        </p:spPr>
      </p:pic>
    </p:spTree>
    <p:extLst>
      <p:ext uri="{BB962C8B-B14F-4D97-AF65-F5344CB8AC3E}">
        <p14:creationId xmlns:p14="http://schemas.microsoft.com/office/powerpoint/2010/main" val="3386269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DAACE-9180-2946-8F9F-8E0F654F3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747382-F567-CDFA-CB8B-BFFBED18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ABB74C-FD30-AAB6-AF78-055FEDB3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2.4. Result</a:t>
            </a:r>
            <a:endParaRPr lang="vi-V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61C508-66D7-3815-07D9-90354BBA81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For the evaluation metric, VizWiz metric is used: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Accuracy: </a:t>
            </a:r>
          </a:p>
          <a:p>
            <a:pPr lvl="1"/>
            <a:r>
              <a:rPr lang="en-US"/>
              <a:t>Baseline: 0.1139.</a:t>
            </a:r>
          </a:p>
          <a:p>
            <a:pPr lvl="1"/>
            <a:r>
              <a:rPr lang="en-US"/>
              <a:t>Our PaliGemma: 0.76, exceeding the result published on the PaliGemma paper.</a:t>
            </a:r>
          </a:p>
          <a:p>
            <a:pPr marL="0" indent="0">
              <a:buNone/>
            </a:pPr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48F411-B2E2-2E42-447B-A989503EF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21" y="1394903"/>
            <a:ext cx="6716062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467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HUST_PPT_template_2022_blue_4x3</Template>
  <TotalTime>2214</TotalTime>
  <Words>2327</Words>
  <Application>Microsoft Office PowerPoint</Application>
  <PresentationFormat>On-screen Show (4:3)</PresentationFormat>
  <Paragraphs>364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Lato</vt:lpstr>
      <vt:lpstr>Wingdings</vt:lpstr>
      <vt:lpstr>Office Theme</vt:lpstr>
      <vt:lpstr>PowerPoint Presentation</vt:lpstr>
      <vt:lpstr>Table of content</vt:lpstr>
      <vt:lpstr>PowerPoint Presentation</vt:lpstr>
      <vt:lpstr>1.1. Introduction</vt:lpstr>
      <vt:lpstr>1.1.1. Proposed Solution</vt:lpstr>
      <vt:lpstr>1.1.1. Proposed Solution</vt:lpstr>
      <vt:lpstr>1.1.2. Reasons for solution</vt:lpstr>
      <vt:lpstr>1.2. Data preparation</vt:lpstr>
      <vt:lpstr>1.2.1. Documents/Regulations data</vt:lpstr>
      <vt:lpstr>1.2.1. Documents/Regulations data</vt:lpstr>
      <vt:lpstr>1.2.2. Lecturer data</vt:lpstr>
      <vt:lpstr>1.2.2. Lecturer data</vt:lpstr>
      <vt:lpstr>1.3. Methods</vt:lpstr>
      <vt:lpstr>1.3.1. Router module</vt:lpstr>
      <vt:lpstr>1.3.2. RAG module</vt:lpstr>
      <vt:lpstr>1.3.2. RAG module</vt:lpstr>
      <vt:lpstr>1.3.2. RAG module</vt:lpstr>
      <vt:lpstr>1.3.3. Text2SQL module</vt:lpstr>
      <vt:lpstr>1.3.3. Text2SQL module</vt:lpstr>
      <vt:lpstr>1.3.4. Web search module</vt:lpstr>
      <vt:lpstr>1.3.4. Web search module</vt:lpstr>
      <vt:lpstr>1.4. Results and Evaluation</vt:lpstr>
      <vt:lpstr>1.4. Evaluation</vt:lpstr>
      <vt:lpstr>1.4.1. RAG evaluation: Faithfulness</vt:lpstr>
      <vt:lpstr>1.4.1. RAG evaluation: Response Relevancy</vt:lpstr>
      <vt:lpstr>1.4.1. RAG evaluation: Response Relevancy</vt:lpstr>
      <vt:lpstr>1.4.1. RAG evaluation: Semantic Similarity</vt:lpstr>
      <vt:lpstr>1.4.1. RAG evaluation: Factual Correctness</vt:lpstr>
      <vt:lpstr>1.4.1. RAG evaluation: Result</vt:lpstr>
      <vt:lpstr>1.4.2. Text2SQL evaluation (Plan)</vt:lpstr>
      <vt:lpstr>1.4.3. Router evaluation (Plan)</vt:lpstr>
      <vt:lpstr>1.5. Challenges and Future work</vt:lpstr>
      <vt:lpstr>PowerPoint Presentation</vt:lpstr>
      <vt:lpstr>2.1. Introduction</vt:lpstr>
      <vt:lpstr>2.1.1. Proposed method</vt:lpstr>
      <vt:lpstr>2.2. Data preparation</vt:lpstr>
      <vt:lpstr>2.2. Data preparation</vt:lpstr>
      <vt:lpstr>2.2. Data preparation</vt:lpstr>
      <vt:lpstr>2.3.1. Methods: PaliGemma</vt:lpstr>
      <vt:lpstr>2.3.2. Baseline model</vt:lpstr>
      <vt:lpstr>2.3.3. LoRA</vt:lpstr>
      <vt:lpstr>2.3.4. QLoRA </vt:lpstr>
      <vt:lpstr>2.3. Methods</vt:lpstr>
      <vt:lpstr>2.4. Result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Trung Kien 20214907</dc:creator>
  <cp:lastModifiedBy>Le Trung Kien 20214907</cp:lastModifiedBy>
  <cp:revision>7</cp:revision>
  <dcterms:created xsi:type="dcterms:W3CDTF">2025-01-17T07:17:39Z</dcterms:created>
  <dcterms:modified xsi:type="dcterms:W3CDTF">2025-03-28T08:20:38Z</dcterms:modified>
</cp:coreProperties>
</file>