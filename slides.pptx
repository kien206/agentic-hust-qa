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33"/>
  </p:notesMasterIdLst>
  <p:handoutMasterIdLst>
    <p:handoutMasterId r:id="rId34"/>
  </p:handoutMasterIdLst>
  <p:sldIdLst>
    <p:sldId id="275" r:id="rId2"/>
    <p:sldId id="257" r:id="rId3"/>
    <p:sldId id="276" r:id="rId4"/>
    <p:sldId id="265" r:id="rId5"/>
    <p:sldId id="286" r:id="rId6"/>
    <p:sldId id="285" r:id="rId7"/>
    <p:sldId id="261" r:id="rId8"/>
    <p:sldId id="266" r:id="rId9"/>
    <p:sldId id="281" r:id="rId10"/>
    <p:sldId id="277" r:id="rId11"/>
    <p:sldId id="289" r:id="rId12"/>
    <p:sldId id="287" r:id="rId13"/>
    <p:sldId id="288" r:id="rId14"/>
    <p:sldId id="278" r:id="rId15"/>
    <p:sldId id="294" r:id="rId16"/>
    <p:sldId id="290" r:id="rId17"/>
    <p:sldId id="291" r:id="rId18"/>
    <p:sldId id="292" r:id="rId19"/>
    <p:sldId id="279" r:id="rId20"/>
    <p:sldId id="293" r:id="rId21"/>
    <p:sldId id="280" r:id="rId22"/>
    <p:sldId id="295" r:id="rId23"/>
    <p:sldId id="296" r:id="rId24"/>
    <p:sldId id="297" r:id="rId25"/>
    <p:sldId id="282" r:id="rId26"/>
    <p:sldId id="298" r:id="rId27"/>
    <p:sldId id="299" r:id="rId28"/>
    <p:sldId id="300" r:id="rId29"/>
    <p:sldId id="301" r:id="rId30"/>
    <p:sldId id="283" r:id="rId31"/>
    <p:sldId id="269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5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6/20/2025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6/20/2025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6/20/2025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6/20/2025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6/20/2025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15024"/>
            <a:ext cx="8674100" cy="488097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75" r:id="rId5"/>
    <p:sldLayoutId id="2147483683" r:id="rId6"/>
    <p:sldLayoutId id="2147483676" r:id="rId7"/>
    <p:sldLayoutId id="2147483679" r:id="rId8"/>
    <p:sldLayoutId id="2147483680" r:id="rId9"/>
    <p:sldLayoutId id="2147483681" r:id="rId10"/>
    <p:sldLayoutId id="2147483682" r:id="rId11"/>
    <p:sldLayoutId id="214748367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ragas.io/en/stable/" TargetMode="Externa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400"/>
              <a:t>Agentic Question Answering System for HUST Documents and Lecturers</a:t>
            </a:r>
            <a:endParaRPr lang="en-US" sz="3400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>
                <a:solidFill>
                  <a:schemeClr val="accent1"/>
                </a:solidFill>
              </a:rPr>
              <a:t>Name: Le Trung Kien</a:t>
            </a:r>
            <a:endParaRPr lang="en-US" sz="2800" b="0" dirty="0">
              <a:solidFill>
                <a:schemeClr val="accent1"/>
              </a:solidFill>
            </a:endParaRPr>
          </a:p>
          <a:p>
            <a:r>
              <a:rPr lang="en-US" sz="2800" b="0">
                <a:solidFill>
                  <a:schemeClr val="accent1"/>
                </a:solidFill>
              </a:rPr>
              <a:t>Student ID: 20214907</a:t>
            </a:r>
            <a:br>
              <a:rPr lang="en-US" sz="2800" b="0">
                <a:solidFill>
                  <a:schemeClr val="accent1"/>
                </a:solidFill>
              </a:rPr>
            </a:br>
            <a:r>
              <a:rPr lang="en-US" sz="2800" b="0">
                <a:solidFill>
                  <a:schemeClr val="accent1"/>
                </a:solidFill>
              </a:rPr>
              <a:t>Supervisor: Dr. Dinh Viet Sang</a:t>
            </a:r>
            <a:endParaRPr lang="en-US" sz="2800" b="0" dirty="0">
              <a:solidFill>
                <a:schemeClr val="accent1"/>
              </a:solidFill>
            </a:endParaRPr>
          </a:p>
          <a:p>
            <a:endParaRPr lang="en-US" sz="2800" b="0" dirty="0">
              <a:solidFill>
                <a:schemeClr val="accent1"/>
              </a:solidFill>
            </a:endParaRPr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3831B-D0F1-0478-2563-9F4F059F4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B6FC0-E5A0-AA91-E0BD-61D340FF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74C55-7FE3-F52E-4304-587A252551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/>
              <a:t>Motivation</a:t>
            </a:r>
          </a:p>
          <a:p>
            <a:pPr marL="514350" indent="-514350">
              <a:buAutoNum type="arabicPeriod"/>
            </a:pPr>
            <a:r>
              <a:rPr lang="en-US"/>
              <a:t>Objectives</a:t>
            </a:r>
          </a:p>
          <a:p>
            <a:pPr marL="514350" indent="-514350">
              <a:buAutoNum type="arabicPeriod"/>
            </a:pPr>
            <a:r>
              <a:rPr lang="en-US"/>
              <a:t>Methodology</a:t>
            </a:r>
          </a:p>
          <a:p>
            <a:pPr marL="514350" indent="-514350">
              <a:buAutoNum type="arabicPeriod"/>
            </a:pPr>
            <a:r>
              <a:rPr lang="en-US"/>
              <a:t>Experimental Setup and Results</a:t>
            </a:r>
          </a:p>
          <a:p>
            <a:pPr marL="514350" indent="-514350">
              <a:buAutoNum type="arabicPeriod"/>
            </a:pPr>
            <a:r>
              <a:rPr lang="en-US"/>
              <a:t>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D5193-7DCA-F269-8CEF-1E9A75CB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Motivation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D5187E-54DB-82F9-9B0D-AE72D71C9DC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49290" y="2859718"/>
            <a:ext cx="4730620" cy="288277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3B575F-34A2-13D9-69D3-FE3A4A65C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886" y="2859718"/>
            <a:ext cx="4030824" cy="26069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77B43C-0F9E-E300-0954-4CDAF161F76E}"/>
              </a:ext>
            </a:extLst>
          </p:cNvPr>
          <p:cNvSpPr txBox="1"/>
          <p:nvPr/>
        </p:nvSpPr>
        <p:spPr>
          <a:xfrm>
            <a:off x="149290" y="1046480"/>
            <a:ext cx="867384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HUST students + prospectives needs of information is huge.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Admission, scholarships, personnels information,…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Current portals </a:t>
            </a:r>
            <a:r>
              <a:rPr lang="en-US" sz="2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such as </a:t>
            </a:r>
            <a:r>
              <a:rPr lang="en-US" sz="22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CTT</a:t>
            </a:r>
            <a:r>
              <a:rPr lang="en-US" sz="2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22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QLDT</a:t>
            </a:r>
            <a:r>
              <a:rPr lang="en-US" sz="2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,… are </a:t>
            </a:r>
            <a:r>
              <a:rPr lang="en-US" sz="22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hard to navigate/unvailable </a:t>
            </a:r>
            <a:r>
              <a:rPr lang="en-US" sz="2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 non-HUSTers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1E0CB7-135C-F17F-3BC5-F7A55994122A}"/>
              </a:ext>
            </a:extLst>
          </p:cNvPr>
          <p:cNvSpPr txBox="1"/>
          <p:nvPr/>
        </p:nvSpPr>
        <p:spPr>
          <a:xfrm>
            <a:off x="1757680" y="5852160"/>
            <a:ext cx="599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CTT + QLDT Portals</a:t>
            </a:r>
            <a:endParaRPr lang="vi-VN" b="1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382A6B-3E5A-983B-4E17-0AEE1F78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59E81E-C530-FAE6-5DC3-F72E9C102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4257040" cy="4351338"/>
          </a:xfrm>
        </p:spPr>
        <p:txBody>
          <a:bodyPr/>
          <a:lstStyle/>
          <a:p>
            <a:r>
              <a:rPr lang="en-US" sz="2200"/>
              <a:t>HUST students + prospectives needs of information is huge.</a:t>
            </a:r>
          </a:p>
          <a:p>
            <a:pPr lvl="1"/>
            <a:r>
              <a:rPr lang="en-US" sz="2200"/>
              <a:t>Admission, scholarships, personnels information,…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 sz="2200" b="1"/>
              <a:t>Current portals </a:t>
            </a:r>
            <a:r>
              <a:rPr lang="en-US" sz="2200"/>
              <a:t>such as </a:t>
            </a:r>
            <a:r>
              <a:rPr lang="en-US" sz="2200" b="1"/>
              <a:t>CTT</a:t>
            </a:r>
            <a:r>
              <a:rPr lang="en-US" sz="2200"/>
              <a:t>, </a:t>
            </a:r>
            <a:r>
              <a:rPr lang="en-US" sz="2200" b="1"/>
              <a:t>QLDT</a:t>
            </a:r>
            <a:r>
              <a:rPr lang="en-US" sz="2200"/>
              <a:t>,… are </a:t>
            </a:r>
            <a:r>
              <a:rPr lang="en-US" sz="2200" b="1"/>
              <a:t>hard to navigate/unvailable </a:t>
            </a:r>
            <a:r>
              <a:rPr lang="en-US" sz="2200"/>
              <a:t>to non-HUSTers</a:t>
            </a:r>
          </a:p>
          <a:p>
            <a:endParaRPr lang="vi-V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27F3F36-E9AD-B779-4107-5481E55EF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Motivation</a:t>
            </a:r>
            <a:endParaRPr lang="vi-VN"/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8F5E5E50-6966-4179-19CD-E3EAFFF17D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6391" y="1282592"/>
            <a:ext cx="4566711" cy="2343497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811EFF-FC5C-4D36-97A4-2583123A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38" y="3829879"/>
            <a:ext cx="4399218" cy="234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450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765CB-5302-5D4F-EBBF-55F60F361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CA6AC-E151-8B2C-783B-E69CF6D6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9CBBC5-0355-6754-F412-8C758340E5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/>
              <a:t>Solutions like </a:t>
            </a:r>
            <a:r>
              <a:rPr lang="en-US" sz="2400" b="1"/>
              <a:t>HUST Assistant </a:t>
            </a:r>
            <a:r>
              <a:rPr lang="en-US" sz="2400"/>
              <a:t>(on QLDT) </a:t>
            </a:r>
          </a:p>
          <a:p>
            <a:pPr lvl="1"/>
            <a:r>
              <a:rPr lang="en-US" sz="2000"/>
              <a:t>do not covers enough information </a:t>
            </a:r>
          </a:p>
          <a:p>
            <a:pPr lvl="1"/>
            <a:r>
              <a:rPr lang="en-US" sz="2000"/>
              <a:t>not accessible for prospective HUS.T admission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B8E3FF-7DB4-60CA-37F1-3B1AE1ADACD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1. Motivation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B34C79-A628-86B0-E3BB-38E03BE15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455" y="1291525"/>
            <a:ext cx="3226211" cy="41431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93094B-BB02-27BF-319B-D2A6C3D6D3C1}"/>
              </a:ext>
            </a:extLst>
          </p:cNvPr>
          <p:cNvSpPr txBox="1"/>
          <p:nvPr/>
        </p:nvSpPr>
        <p:spPr>
          <a:xfrm>
            <a:off x="5222240" y="5567680"/>
            <a:ext cx="273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HUST Assistant </a:t>
            </a:r>
            <a:r>
              <a:rPr lang="en-US"/>
              <a:t>(taken on 19/06 5:20pm)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0537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2. 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07C78E-166B-105A-6D40-BD93DBAE84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Information ambiguity, hard to access and scattered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/>
              <a:t>A centralized, easy-to-use system to answer questions about HUST documents, personnel</a:t>
            </a:r>
          </a:p>
          <a:p>
            <a:r>
              <a:rPr lang="en-US"/>
              <a:t>Many types of information, update regularly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 Agentic system based on LLM for flexibility, adaptability</a:t>
            </a:r>
            <a:endParaRPr lang="en-US"/>
          </a:p>
          <a:p>
            <a:pPr marL="0" indent="0">
              <a:buNone/>
            </a:pP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Overall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DD0F4A-7FA5-2E4E-586E-D20749552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36" y="1828800"/>
            <a:ext cx="8029928" cy="386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89CE-0299-D112-08C0-225FEE965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97817C-017F-4008-D774-77CE67B2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B447C9-2DAD-E248-4FEE-B0BBB6D47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18971-A5DB-A7E1-9F42-56BBDB2BA5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Router</a:t>
            </a:r>
          </a:p>
          <a:p>
            <a:pPr lvl="1"/>
            <a:r>
              <a:rPr lang="en-US"/>
              <a:t>Decides which agent/flow to use</a:t>
            </a:r>
          </a:p>
          <a:p>
            <a:pPr lvl="1"/>
            <a:r>
              <a:rPr lang="en-US"/>
              <a:t>LLM for flexibility and scalability (adding new agent)</a:t>
            </a:r>
          </a:p>
          <a:p>
            <a:pPr lvl="2"/>
            <a:r>
              <a:rPr lang="en-US"/>
              <a:t>University advices, regulations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RAG Flow</a:t>
            </a:r>
          </a:p>
          <a:p>
            <a:pPr lvl="2"/>
            <a:r>
              <a:rPr lang="en-US"/>
              <a:t>Personnel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Text2SQL Agent</a:t>
            </a:r>
          </a:p>
          <a:p>
            <a:pPr lvl="2"/>
            <a:r>
              <a:rPr lang="en-US"/>
              <a:t>Irrelevant </a:t>
            </a:r>
            <a:r>
              <a:rPr lang="en-US">
                <a:sym typeface="Wingdings" panose="05000000000000000000" pitchFamily="2" charset="2"/>
              </a:rPr>
              <a:t> Answer immediately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24FAA8-A456-B905-6DA5-A9047BE22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05" y="3529584"/>
            <a:ext cx="6906589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822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8B554-E15F-344F-4FD1-9AC4BCE01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DD4002-C7EC-9459-9EA9-D5E84BBC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20503A-FECD-396C-082F-37753DE9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C1629-6137-53C7-C586-D8B3DE0B49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RAG Pipeline</a:t>
            </a:r>
          </a:p>
          <a:p>
            <a:pPr lvl="1"/>
            <a:r>
              <a:rPr lang="en-US"/>
              <a:t>Handles questions about documents such as education regulations, scholarships regulations,…</a:t>
            </a:r>
          </a:p>
          <a:p>
            <a:pPr lvl="1"/>
            <a:r>
              <a:rPr lang="en-US"/>
              <a:t>Dynamically switch to web search for unvailable data.</a:t>
            </a:r>
          </a:p>
          <a:p>
            <a:pPr lvl="1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80CBA-1B6B-1D1B-886B-15A3779A0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" y="2667952"/>
            <a:ext cx="6583680" cy="356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888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E6BA4-73B6-B039-818E-E31B2EAAD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184F8E-7A49-5E42-DBE9-640E6F25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4A5DC6-AB61-3C36-4E50-42B7FD3D8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9C2CD-260E-E812-D543-6D9EC5447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Retrieval Agent (vector search)</a:t>
            </a:r>
          </a:p>
          <a:p>
            <a:pPr lvl="1"/>
            <a:r>
              <a:rPr lang="en-US" b="1"/>
              <a:t>Retrieve</a:t>
            </a:r>
            <a:r>
              <a:rPr lang="en-US"/>
              <a:t> relevant chunks using </a:t>
            </a:r>
            <a:r>
              <a:rPr lang="en-US" b="1"/>
              <a:t>hybrid search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marL="457200" lvl="1" indent="0">
              <a:buNone/>
            </a:pPr>
            <a:endParaRPr lang="en-US"/>
          </a:p>
          <a:p>
            <a:pPr lvl="1"/>
            <a:r>
              <a:rPr lang="en-US" b="1"/>
              <a:t>Grade documents </a:t>
            </a:r>
            <a:r>
              <a:rPr lang="en-US"/>
              <a:t>(LLM) to </a:t>
            </a:r>
            <a:r>
              <a:rPr lang="en-US" b="1"/>
              <a:t>filter</a:t>
            </a:r>
            <a:r>
              <a:rPr lang="en-US"/>
              <a:t> irrelevant documents.</a:t>
            </a:r>
          </a:p>
          <a:p>
            <a:pPr lvl="2"/>
            <a:r>
              <a:rPr lang="en-US"/>
              <a:t>No documents </a:t>
            </a:r>
            <a:r>
              <a:rPr lang="en-US">
                <a:sym typeface="Wingdings" panose="05000000000000000000" pitchFamily="2" charset="2"/>
              </a:rPr>
              <a:t> Web Search Agent (discussed later).</a:t>
            </a:r>
          </a:p>
          <a:p>
            <a:pPr lvl="2"/>
            <a:r>
              <a:rPr lang="en-US">
                <a:sym typeface="Wingdings" panose="05000000000000000000" pitchFamily="2" charset="2"/>
              </a:rPr>
              <a:t>Relevant  Generation Agent (discussed later).</a:t>
            </a:r>
            <a:endParaRPr lang="en-US"/>
          </a:p>
          <a:p>
            <a:pPr lvl="1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214425-28D5-1B74-5296-9501DC1DD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93" y="1871975"/>
            <a:ext cx="6021237" cy="18821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605660-79B8-4A0A-0748-320F75EE3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46" y="4129469"/>
            <a:ext cx="7441307" cy="79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58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2535C-CBE4-4B3B-EBDE-87F7C30F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321319-4B3F-7DDB-C332-42A61C2BE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E99DCB-3574-F9B7-CBF7-E390CC6D9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D26A5-51F4-0970-1A7C-E68806F50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HUST documents</a:t>
            </a:r>
          </a:p>
          <a:p>
            <a:pPr lvl="1"/>
            <a:r>
              <a:rPr lang="en-US"/>
              <a:t>21 PDFs covering multiple regulations</a:t>
            </a:r>
          </a:p>
          <a:p>
            <a:pPr lvl="1"/>
            <a:r>
              <a:rPr lang="en-US"/>
              <a:t>Only text + tabular data. Can be scanned images.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8615D5-29C1-75D8-EF98-C470C1778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69" y="2258131"/>
            <a:ext cx="4739420" cy="40032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A1376F-7D3A-84DC-0391-64927F6D652E}"/>
              </a:ext>
            </a:extLst>
          </p:cNvPr>
          <p:cNvSpPr txBox="1"/>
          <p:nvPr/>
        </p:nvSpPr>
        <p:spPr>
          <a:xfrm>
            <a:off x="4688063" y="3641728"/>
            <a:ext cx="423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Used HUST documents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7036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E425-E354-7F23-63EE-58B504563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90BF9D-EB4C-C6E2-03C3-2421E021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25C12-4313-1757-8A98-AFC0A4AD27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/>
              <a:t>HUST documents</a:t>
            </a:r>
          </a:p>
          <a:p>
            <a:pPr lvl="1"/>
            <a:r>
              <a:rPr lang="en-US" sz="2200"/>
              <a:t>Parsed into </a:t>
            </a:r>
            <a:r>
              <a:rPr lang="en-US" sz="2200" b="1"/>
              <a:t>Markdown </a:t>
            </a:r>
            <a:r>
              <a:rPr lang="en-US" sz="2200"/>
              <a:t>using </a:t>
            </a:r>
            <a:r>
              <a:rPr lang="en-US" sz="2200" b="1"/>
              <a:t>LlamaParse</a:t>
            </a:r>
          </a:p>
          <a:p>
            <a:pPr lvl="1"/>
            <a:r>
              <a:rPr lang="en-US" sz="2200"/>
              <a:t>Structured </a:t>
            </a:r>
            <a:r>
              <a:rPr lang="en-US" sz="2200" b="1"/>
              <a:t>chunking</a:t>
            </a:r>
            <a:r>
              <a:rPr lang="en-US" sz="2200"/>
              <a:t> using </a:t>
            </a:r>
            <a:r>
              <a:rPr lang="en-US" sz="2200" b="1"/>
              <a:t>Regex</a:t>
            </a:r>
          </a:p>
          <a:p>
            <a:pPr lvl="1"/>
            <a:endParaRPr lang="en-US" sz="2200"/>
          </a:p>
          <a:p>
            <a:pPr lvl="1"/>
            <a:endParaRPr lang="en-US" sz="22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CDDE79-1D56-EB63-1B5A-1235C130D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A8D050-D59B-EAB3-9B34-CA4479CBA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" y="3619335"/>
            <a:ext cx="2941869" cy="26899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3DE7D2-F6C3-E398-5528-3919972BA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72046"/>
            <a:ext cx="3486794" cy="22569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474AC4-FBB2-9752-D943-9E9E4B357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3955173"/>
            <a:ext cx="3486795" cy="235414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35100E-C229-9BE2-E01B-3C210E79800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470697" y="4964325"/>
            <a:ext cx="110130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A98567-72FF-D39A-E101-00171077E390}"/>
              </a:ext>
            </a:extLst>
          </p:cNvPr>
          <p:cNvCxnSpPr>
            <a:cxnSpLocks/>
            <a:stCxn id="12" idx="0"/>
            <a:endCxn id="10" idx="2"/>
          </p:cNvCxnSpPr>
          <p:nvPr/>
        </p:nvCxnSpPr>
        <p:spPr>
          <a:xfrm flipV="1">
            <a:off x="6315397" y="3429000"/>
            <a:ext cx="0" cy="52617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64A5037-27AB-A515-57D3-DB6F057FBB0A}"/>
              </a:ext>
            </a:extLst>
          </p:cNvPr>
          <p:cNvSpPr txBox="1"/>
          <p:nvPr/>
        </p:nvSpPr>
        <p:spPr>
          <a:xfrm>
            <a:off x="3444645" y="4620101"/>
            <a:ext cx="12843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LlamaParse</a:t>
            </a:r>
            <a:endParaRPr lang="vi-VN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C7622F-56F3-4311-826A-9C5BDF91D039}"/>
              </a:ext>
            </a:extLst>
          </p:cNvPr>
          <p:cNvSpPr txBox="1"/>
          <p:nvPr/>
        </p:nvSpPr>
        <p:spPr>
          <a:xfrm>
            <a:off x="6315396" y="3538198"/>
            <a:ext cx="12843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Chunking</a:t>
            </a:r>
            <a:endParaRPr lang="vi-VN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754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7A1AE-0095-4D9B-0F79-86061669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CB282F-45D9-196E-99EA-DEE47FFB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A65607-A405-4789-5828-6FF1BBE25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D4D0F-1632-9DCF-7842-E4F67FA5E4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Text2SQL Agent</a:t>
            </a:r>
          </a:p>
          <a:p>
            <a:pPr lvl="1"/>
            <a:r>
              <a:rPr lang="en-US"/>
              <a:t>Handels queries relating personnel information.</a:t>
            </a:r>
          </a:p>
          <a:p>
            <a:pPr lvl="1"/>
            <a:r>
              <a:rPr lang="en-US"/>
              <a:t>Switch to web search for unvailable data.</a:t>
            </a:r>
          </a:p>
          <a:p>
            <a:pPr lvl="1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58B28B-07F4-75BA-FC88-3E0A88448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0" y="2694224"/>
            <a:ext cx="6623050" cy="340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46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2B62-937A-E440-BED2-0D71A294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F76456-0E6F-5214-6CBE-497802D3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F01245-E696-836B-2431-6725A9F99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83FFB-8D57-1A85-F5E0-956D134772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Text2SQL Agent</a:t>
            </a:r>
          </a:p>
          <a:p>
            <a:pPr lvl="1"/>
            <a:r>
              <a:rPr lang="en-US"/>
              <a:t>Data crawled from SoICT website, all data are text.</a:t>
            </a:r>
          </a:p>
          <a:p>
            <a:pPr lvl="1"/>
            <a:r>
              <a:rPr lang="en-US"/>
              <a:t>Data is normalized </a:t>
            </a:r>
            <a:r>
              <a:rPr lang="en-US">
                <a:sym typeface="Wingdings" panose="05000000000000000000" pitchFamily="2" charset="2"/>
              </a:rPr>
              <a:t> concatenate to add into 1 table.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026861-3E4A-AEEB-D07F-0972CCD70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439" y="2306497"/>
            <a:ext cx="2472833" cy="369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81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D866-B430-DD7F-92DE-104BC9A8A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7CA294-263B-825B-242D-E7EB92CD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F5D9AC-79D0-761A-FB1A-4BF3789D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C18939-76CC-65A4-BA93-15190A917F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Text2SQL Agent</a:t>
            </a:r>
          </a:p>
          <a:p>
            <a:pPr lvl="1"/>
            <a:r>
              <a:rPr lang="en-US" b="1"/>
              <a:t>NER</a:t>
            </a:r>
            <a:r>
              <a:rPr lang="en-US"/>
              <a:t>: detects </a:t>
            </a:r>
            <a:r>
              <a:rPr lang="en-US" b="1"/>
              <a:t>entities</a:t>
            </a:r>
            <a:r>
              <a:rPr lang="en-US"/>
              <a:t> in questions.</a:t>
            </a:r>
          </a:p>
          <a:p>
            <a:pPr lvl="2"/>
            <a:r>
              <a:rPr lang="en-US" b="1"/>
              <a:t>Input</a:t>
            </a:r>
            <a:r>
              <a:rPr lang="en-US"/>
              <a:t>: </a:t>
            </a:r>
            <a:r>
              <a:rPr lang="vi-VN"/>
              <a:t>Có những ai tên Linh dạy môn Khoa học dữ liệu?</a:t>
            </a:r>
          </a:p>
          <a:p>
            <a:pPr lvl="2"/>
            <a:r>
              <a:rPr lang="vi-VN" b="1"/>
              <a:t>Output</a:t>
            </a:r>
            <a:r>
              <a:rPr lang="vi-VN"/>
              <a:t>: {name: ’Linh’, subject: ’Khoa học dữ liệu’}.</a:t>
            </a:r>
          </a:p>
          <a:p>
            <a:pPr lvl="1"/>
            <a:r>
              <a:rPr lang="vi-VN" b="1"/>
              <a:t>Intent detection</a:t>
            </a:r>
            <a:r>
              <a:rPr lang="vi-VN"/>
              <a:t>: what </a:t>
            </a:r>
            <a:r>
              <a:rPr lang="vi-VN" b="1"/>
              <a:t>information </a:t>
            </a:r>
            <a:r>
              <a:rPr lang="vi-VN"/>
              <a:t>(columns) the user needs.</a:t>
            </a:r>
          </a:p>
          <a:p>
            <a:pPr lvl="1"/>
            <a:r>
              <a:rPr lang="vi-VN"/>
              <a:t>Both uses LLM.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30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56BC9-608F-97AE-906E-C1C999C42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D85835-1A27-D679-B932-C1366A70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B9F30B-96AC-05A2-2B9D-D254BC4C0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41B12-6C9D-3CD5-5ACA-B84705C84D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Text2SQL Agent</a:t>
            </a:r>
          </a:p>
          <a:p>
            <a:pPr lvl="1"/>
            <a:r>
              <a:rPr lang="vi-VN"/>
              <a:t>Entities and intent (information) is used to </a:t>
            </a:r>
            <a:r>
              <a:rPr lang="vi-VN" b="1"/>
              <a:t>fill a template</a:t>
            </a:r>
            <a:r>
              <a:rPr lang="vi-VN"/>
              <a:t>.</a:t>
            </a:r>
          </a:p>
          <a:p>
            <a:pPr lvl="1"/>
            <a:endParaRPr lang="vi-VN"/>
          </a:p>
          <a:p>
            <a:pPr lvl="1"/>
            <a:endParaRPr lang="vi-VN"/>
          </a:p>
          <a:p>
            <a:pPr lvl="2"/>
            <a:r>
              <a:rPr lang="vi-VN"/>
              <a:t>Entities are grouped together with OR clause and combined with AND clause.</a:t>
            </a:r>
          </a:p>
          <a:p>
            <a:pPr lvl="2"/>
            <a:r>
              <a:rPr lang="vi-VN"/>
              <a:t>Use </a:t>
            </a:r>
            <a:r>
              <a:rPr lang="vi-VN" b="1"/>
              <a:t>partial string matching </a:t>
            </a:r>
            <a:r>
              <a:rPr lang="vi-VN"/>
              <a:t>since most columns are text</a:t>
            </a:r>
            <a:r>
              <a:rPr lang="vi-VN" b="1"/>
              <a:t>.</a:t>
            </a:r>
            <a:endParaRPr lang="en-US" b="1"/>
          </a:p>
          <a:p>
            <a:pPr lvl="1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7CD2ED-3CA5-A5D7-1C07-96DD309AF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687" y="1864880"/>
            <a:ext cx="6115904" cy="7906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38EB63D-D1E1-3630-0BC8-7EFEF66BB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81" y="3732355"/>
            <a:ext cx="7278116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72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46A1D-269C-69D5-B4CD-96974B063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61B867-5681-5BA5-6BAA-F54AEEBE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80984-B947-F166-63D7-C008CE1F8C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Text2SQL Agent</a:t>
            </a:r>
          </a:p>
          <a:p>
            <a:pPr lvl="1"/>
            <a:r>
              <a:rPr lang="vi-VN"/>
              <a:t>Template filling </a:t>
            </a:r>
          </a:p>
          <a:p>
            <a:pPr lvl="2"/>
            <a:r>
              <a:rPr lang="vi-VN"/>
              <a:t>handles most of the simple questions.</a:t>
            </a:r>
          </a:p>
          <a:p>
            <a:pPr lvl="2"/>
            <a:r>
              <a:rPr lang="vi-VN"/>
              <a:t>Fails more complex questions.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vi-VN">
                <a:sym typeface="Wingdings" panose="05000000000000000000" pitchFamily="2" charset="2"/>
              </a:rPr>
              <a:t>Query Fixer</a:t>
            </a:r>
          </a:p>
          <a:p>
            <a:pPr lvl="1"/>
            <a:r>
              <a:rPr lang="vi-VN" b="1">
                <a:sym typeface="Wingdings" panose="05000000000000000000" pitchFamily="2" charset="2"/>
              </a:rPr>
              <a:t>Query Fixer </a:t>
            </a:r>
            <a:r>
              <a:rPr lang="vi-VN">
                <a:sym typeface="Wingdings" panose="05000000000000000000" pitchFamily="2" charset="2"/>
              </a:rPr>
              <a:t>fixes queries with more than 1 conditions</a:t>
            </a:r>
          </a:p>
          <a:p>
            <a:pPr lvl="2"/>
            <a:r>
              <a:rPr lang="vi-VN">
                <a:sym typeface="Wingdings" panose="05000000000000000000" pitchFamily="2" charset="2"/>
              </a:rPr>
              <a:t>Uses an LLM.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CB8DBC-8D76-377C-B2BE-438492F6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9C6663-E1CC-95B0-C10D-5C6877767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691" y="1928004"/>
            <a:ext cx="4556383" cy="300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56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7C5A4-5B9C-57A3-DF6D-14820100B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599C10-0B16-8DEE-43B9-DAB6DF38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5F4E2C-297B-9E92-40E6-A1F282896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8622A-A4BC-1AFA-F3FA-D417AF18DD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Retrieval Agent (Web Search)</a:t>
            </a:r>
          </a:p>
          <a:p>
            <a:pPr lvl="1"/>
            <a:r>
              <a:rPr lang="en-US"/>
              <a:t>Retrieve context when </a:t>
            </a:r>
          </a:p>
          <a:p>
            <a:pPr lvl="2"/>
            <a:r>
              <a:rPr lang="en-US" b="1"/>
              <a:t>RAG Flow </a:t>
            </a:r>
            <a:r>
              <a:rPr lang="en-US"/>
              <a:t>has no relevant document.</a:t>
            </a:r>
          </a:p>
          <a:p>
            <a:pPr lvl="2"/>
            <a:r>
              <a:rPr lang="en-US" b="1"/>
              <a:t>Text2SQL Agent </a:t>
            </a:r>
            <a:r>
              <a:rPr lang="en-US"/>
              <a:t>returns no output.</a:t>
            </a:r>
          </a:p>
          <a:p>
            <a:pPr lvl="1"/>
            <a:r>
              <a:rPr lang="en-US"/>
              <a:t>Preprocess the queries </a:t>
            </a:r>
            <a:r>
              <a:rPr lang="en-US">
                <a:sym typeface="Wingdings" panose="05000000000000000000" pitchFamily="2" charset="2"/>
              </a:rPr>
              <a:t> Search web  Summarize using an LLM  Context.</a:t>
            </a:r>
            <a:endParaRPr lang="en-US"/>
          </a:p>
          <a:p>
            <a:pPr lvl="1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135CDA-AD82-B260-9EE3-2415FC3DB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529584"/>
            <a:ext cx="6867383" cy="231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89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675B1-3FE5-94EC-E19A-FF89FBA2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1F2439-70A0-861D-A379-88DCD84B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5A0384-B87D-00AA-62B9-31E17E468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DA27D-8D68-3AF2-8689-9871441430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Generation Agent</a:t>
            </a:r>
          </a:p>
          <a:p>
            <a:pPr lvl="1"/>
            <a:r>
              <a:rPr lang="en-US"/>
              <a:t>Generate the answer based on context.</a:t>
            </a:r>
          </a:p>
          <a:p>
            <a:pPr lvl="2"/>
            <a:r>
              <a:rPr lang="en-US"/>
              <a:t>Documents/Web data:</a:t>
            </a:r>
          </a:p>
          <a:p>
            <a:pPr lvl="3"/>
            <a:r>
              <a:rPr lang="en-US"/>
              <a:t>LLM call based on context.</a:t>
            </a:r>
          </a:p>
          <a:p>
            <a:pPr lvl="3"/>
            <a:r>
              <a:rPr lang="en-US"/>
              <a:t>Include metadata.</a:t>
            </a:r>
          </a:p>
          <a:p>
            <a:pPr lvl="2"/>
            <a:r>
              <a:rPr lang="en-US"/>
              <a:t>Personnel data:</a:t>
            </a:r>
          </a:p>
          <a:p>
            <a:pPr lvl="3"/>
            <a:r>
              <a:rPr lang="en-US"/>
              <a:t>Return a template answer to save cost.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29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708C1-ABC2-5052-4CE7-C1FB1F32C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B45106-7B7B-B0C8-EAAE-E8F7D3E0A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AC7DE8-61AC-CE21-0ECE-7E997E575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809EA-B11B-75D5-3196-816C8DD68B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RAGAS</a:t>
            </a:r>
            <a:endParaRPr lang="en-US"/>
          </a:p>
          <a:p>
            <a:pPr lvl="1"/>
            <a:r>
              <a:rPr lang="en-US"/>
              <a:t>Framework for evaluating LLM-based systems.</a:t>
            </a:r>
          </a:p>
          <a:p>
            <a:pPr lvl="1"/>
            <a:r>
              <a:rPr lang="en-US"/>
              <a:t>Includes a wide range of </a:t>
            </a:r>
            <a:r>
              <a:rPr lang="en-US" b="1"/>
              <a:t>pre-defined metrics</a:t>
            </a:r>
            <a:r>
              <a:rPr lang="en-US"/>
              <a:t> for evaluating </a:t>
            </a:r>
            <a:r>
              <a:rPr lang="en-US" b="1"/>
              <a:t>LLM-based systems.</a:t>
            </a:r>
          </a:p>
          <a:p>
            <a:pPr lvl="2"/>
            <a:r>
              <a:rPr lang="en-US"/>
              <a:t>ranging from RAG, Text2SQL, to Agentic systems.</a:t>
            </a:r>
          </a:p>
          <a:p>
            <a:r>
              <a:rPr lang="en-US"/>
              <a:t>Each module (RAG, Text2SQL, Router)  is </a:t>
            </a:r>
            <a:r>
              <a:rPr lang="en-US" b="1"/>
              <a:t>evaluated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2350577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9B9B-9CEB-672F-3335-4732B4935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15EF73-1455-7F15-A1EB-66A2B3A7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7F915D-7FDE-DDDA-7224-56168135B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374B3-5655-C40A-9F97-0BB25F99B8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RAG Metrics</a:t>
            </a:r>
          </a:p>
          <a:p>
            <a:pPr lvl="1"/>
            <a:r>
              <a:rPr lang="en-US" b="1"/>
              <a:t>Faithfulness: </a:t>
            </a:r>
            <a:r>
              <a:rPr lang="en-US"/>
              <a:t>how factually consistent a </a:t>
            </a:r>
            <a:r>
              <a:rPr lang="en-US" b="1"/>
              <a:t>response</a:t>
            </a:r>
            <a:r>
              <a:rPr lang="en-US"/>
              <a:t> is with the </a:t>
            </a:r>
            <a:r>
              <a:rPr lang="en-US" b="1"/>
              <a:t>retrieved context</a:t>
            </a:r>
            <a:r>
              <a:rPr lang="en-US"/>
              <a:t>.</a:t>
            </a:r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r>
              <a:rPr lang="vi-VN" b="1"/>
              <a:t>Response Relevancy</a:t>
            </a:r>
            <a:r>
              <a:rPr lang="en-US" b="1"/>
              <a:t>: </a:t>
            </a:r>
            <a:r>
              <a:rPr lang="en-US"/>
              <a:t>how relevant a </a:t>
            </a:r>
            <a:r>
              <a:rPr lang="en-US" b="1"/>
              <a:t>response</a:t>
            </a:r>
            <a:r>
              <a:rPr lang="en-US"/>
              <a:t> is to the </a:t>
            </a:r>
            <a:r>
              <a:rPr lang="en-US" b="1"/>
              <a:t>user input (question).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BC519C-4E6B-4AEE-8162-B7A80FA3D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31" y="2179567"/>
            <a:ext cx="6452558" cy="6759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7EDF6B-A589-A2B0-3076-C0292F7FC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921" y="4192883"/>
            <a:ext cx="4454158" cy="98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56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68674-82F3-CE0D-7F5D-C099C9BA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F96DA4-F8BC-C994-19A8-D88274A8E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1DF13B-968E-DEFF-AEE8-8AFA9CBCC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B7A1E-433A-E1E0-D234-2F234726E7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RAG Metrics</a:t>
            </a:r>
          </a:p>
          <a:p>
            <a:pPr lvl="1"/>
            <a:r>
              <a:rPr lang="vi-VN"/>
              <a:t>Answer Similarity: </a:t>
            </a:r>
            <a:r>
              <a:rPr lang="en-US"/>
              <a:t>measures the </a:t>
            </a:r>
            <a:r>
              <a:rPr lang="en-US" b="1"/>
              <a:t>semantic resemblance </a:t>
            </a:r>
            <a:r>
              <a:rPr lang="en-US"/>
              <a:t>between the </a:t>
            </a:r>
            <a:r>
              <a:rPr lang="en-US" b="1"/>
              <a:t>generated answer </a:t>
            </a:r>
            <a:r>
              <a:rPr lang="en-US"/>
              <a:t>and the </a:t>
            </a:r>
            <a:r>
              <a:rPr lang="en-US" b="1"/>
              <a:t>ground truth.</a:t>
            </a:r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r>
              <a:rPr lang="vi-VN"/>
              <a:t>Factual Correctness</a:t>
            </a:r>
            <a:r>
              <a:rPr lang="en-US"/>
              <a:t>: evaluates the </a:t>
            </a:r>
            <a:r>
              <a:rPr lang="en-US" b="1"/>
              <a:t>factual accuracy</a:t>
            </a:r>
            <a:r>
              <a:rPr lang="en-US"/>
              <a:t> of the </a:t>
            </a:r>
            <a:r>
              <a:rPr lang="en-US" b="1"/>
              <a:t>generated response</a:t>
            </a:r>
            <a:r>
              <a:rPr lang="en-US"/>
              <a:t> with the </a:t>
            </a:r>
            <a:r>
              <a:rPr lang="en-US" b="1"/>
              <a:t>reference</a:t>
            </a:r>
            <a:r>
              <a:rPr lang="en-US"/>
              <a:t>.</a:t>
            </a:r>
          </a:p>
          <a:p>
            <a:pPr lvl="2"/>
            <a:r>
              <a:rPr lang="en-US"/>
              <a:t>Use LLM to break down response + reference </a:t>
            </a:r>
            <a:r>
              <a:rPr lang="en-US">
                <a:sym typeface="Wingdings" panose="05000000000000000000" pitchFamily="2" charset="2"/>
              </a:rPr>
              <a:t> claims.</a:t>
            </a:r>
          </a:p>
          <a:p>
            <a:pPr lvl="2"/>
            <a:r>
              <a:rPr lang="en-US"/>
              <a:t>Determine factual overlap using F1 score.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162209-3AF6-BA9D-0F47-BFF332650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220" y="2161284"/>
            <a:ext cx="3611560" cy="85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809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95DC8-B38F-FDFA-AEF3-E74EADD77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6B2735-C5F7-324D-86CF-E4D78F62D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E24FC7-76A9-AD81-5D79-A82D12646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3A0A0-18F5-1252-3050-2799887350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Text2SQL Metrics</a:t>
            </a:r>
          </a:p>
          <a:p>
            <a:pPr lvl="1"/>
            <a:r>
              <a:rPr lang="en-US"/>
              <a:t>SQL Query Equivalence: </a:t>
            </a:r>
          </a:p>
          <a:p>
            <a:pPr lvl="2"/>
            <a:r>
              <a:rPr lang="en-US"/>
              <a:t>Evaluate the equivalence of the response query with the reference query.</a:t>
            </a:r>
          </a:p>
          <a:p>
            <a:pPr lvl="2"/>
            <a:r>
              <a:rPr lang="en-US"/>
              <a:t>Requires reference schema.</a:t>
            </a:r>
          </a:p>
          <a:p>
            <a:pPr lvl="2"/>
            <a:r>
              <a:rPr lang="en-US"/>
              <a:t>No need to execute query to evaluate.</a:t>
            </a:r>
          </a:p>
          <a:p>
            <a:r>
              <a:rPr lang="en-US"/>
              <a:t>Router Metrics</a:t>
            </a:r>
          </a:p>
          <a:p>
            <a:pPr lvl="1"/>
            <a:r>
              <a:rPr lang="en-US"/>
              <a:t>Agent Call Accuracy</a:t>
            </a:r>
          </a:p>
          <a:p>
            <a:pPr lvl="2"/>
            <a:r>
              <a:rPr lang="en-US"/>
              <a:t>Assesses performance in identifying the goals of the users (calling the correct agent).</a:t>
            </a:r>
          </a:p>
          <a:p>
            <a:pPr lvl="2"/>
            <a:r>
              <a:rPr lang="en-US"/>
              <a:t>A classification accuracy metrics.</a:t>
            </a:r>
          </a:p>
        </p:txBody>
      </p:sp>
    </p:spTree>
    <p:extLst>
      <p:ext uri="{BB962C8B-B14F-4D97-AF65-F5344CB8AC3E}">
        <p14:creationId xmlns:p14="http://schemas.microsoft.com/office/powerpoint/2010/main" val="2650855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D9F4B-BF6F-52BC-E5A6-8DDADE168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B4590D-2D06-251A-5F78-E2D614F5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397AB-00BD-F169-6B3C-23764A7C40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Evaluation Datasets</a:t>
            </a:r>
          </a:p>
          <a:p>
            <a:pPr lvl="1"/>
            <a:r>
              <a:rPr lang="en-US"/>
              <a:t>RAG Evaluation</a:t>
            </a:r>
          </a:p>
          <a:p>
            <a:pPr lvl="2"/>
            <a:r>
              <a:rPr lang="en-US"/>
              <a:t>Requires: </a:t>
            </a:r>
            <a:r>
              <a:rPr lang="en-US" b="1"/>
              <a:t>user input, retrieved context</a:t>
            </a:r>
            <a:r>
              <a:rPr lang="en-US"/>
              <a:t>, </a:t>
            </a:r>
            <a:r>
              <a:rPr lang="en-US" b="1"/>
              <a:t>generated response</a:t>
            </a:r>
            <a:r>
              <a:rPr lang="en-US"/>
              <a:t>, </a:t>
            </a:r>
            <a:r>
              <a:rPr lang="en-US" b="1"/>
              <a:t>the ground truth answer.</a:t>
            </a:r>
          </a:p>
          <a:p>
            <a:pPr lvl="2"/>
            <a:r>
              <a:rPr lang="en-US"/>
              <a:t>Created by hand</a:t>
            </a:r>
          </a:p>
          <a:p>
            <a:pPr lvl="2"/>
            <a:r>
              <a:rPr lang="en-US"/>
              <a:t>123 records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B71524-7DEF-571B-AD6B-4FC88868D8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17A883-2464-C07F-D4B8-34F79CC33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FA5A50-587A-F340-0D04-ACCC710EF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107" y="1923073"/>
            <a:ext cx="4673676" cy="377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20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6DF3E-F001-0973-DB8B-02302B82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23F622-93A3-9ADE-180F-E737429DD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6D7F77-97EB-7E48-5B98-365245D32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B3965-D87D-4C22-0EFE-326756565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Evaluation Datasets</a:t>
            </a:r>
          </a:p>
          <a:p>
            <a:pPr lvl="1"/>
            <a:r>
              <a:rPr lang="en-US"/>
              <a:t>Text2SQL Evaluation</a:t>
            </a:r>
          </a:p>
          <a:p>
            <a:pPr lvl="2"/>
            <a:r>
              <a:rPr lang="en-US"/>
              <a:t>Requires: </a:t>
            </a:r>
            <a:r>
              <a:rPr lang="en-US" b="1"/>
              <a:t>user input</a:t>
            </a:r>
            <a:r>
              <a:rPr lang="en-US"/>
              <a:t>; the </a:t>
            </a:r>
            <a:r>
              <a:rPr lang="en-US" b="1"/>
              <a:t>generated SQL query</a:t>
            </a:r>
            <a:r>
              <a:rPr lang="en-US"/>
              <a:t>; the </a:t>
            </a:r>
            <a:r>
              <a:rPr lang="en-US" b="1"/>
              <a:t>reference query</a:t>
            </a:r>
            <a:r>
              <a:rPr lang="en-US"/>
              <a:t>; the </a:t>
            </a:r>
            <a:r>
              <a:rPr lang="en-US" b="1"/>
              <a:t>schema </a:t>
            </a:r>
            <a:r>
              <a:rPr lang="en-US"/>
              <a:t>of the database</a:t>
            </a:r>
          </a:p>
          <a:p>
            <a:pPr lvl="2"/>
            <a:r>
              <a:rPr lang="en-US"/>
              <a:t>Give </a:t>
            </a:r>
            <a:r>
              <a:rPr lang="en-US" b="1"/>
              <a:t>Gemini 2.5 Pro</a:t>
            </a:r>
            <a:r>
              <a:rPr lang="en-US"/>
              <a:t> the schema + some examples </a:t>
            </a:r>
            <a:r>
              <a:rPr lang="en-US">
                <a:sym typeface="Wingdings" panose="05000000000000000000" pitchFamily="2" charset="2"/>
              </a:rPr>
              <a:t> templates</a:t>
            </a:r>
          </a:p>
          <a:p>
            <a:pPr lvl="2"/>
            <a:r>
              <a:rPr lang="en-US" b="1">
                <a:sym typeface="Wingdings" panose="05000000000000000000" pitchFamily="2" charset="2"/>
              </a:rPr>
              <a:t>Random sample</a:t>
            </a:r>
            <a:r>
              <a:rPr lang="en-US">
                <a:sym typeface="Wingdings" panose="05000000000000000000" pitchFamily="2" charset="2"/>
              </a:rPr>
              <a:t> from the database for the evaluation dataset.</a:t>
            </a:r>
          </a:p>
          <a:p>
            <a:pPr lvl="2"/>
            <a:r>
              <a:rPr lang="en-US">
                <a:sym typeface="Wingdings" panose="05000000000000000000" pitchFamily="2" charset="2"/>
              </a:rPr>
              <a:t>Filter  </a:t>
            </a:r>
            <a:r>
              <a:rPr lang="en-US" b="1">
                <a:sym typeface="Wingdings" panose="05000000000000000000" pitchFamily="2" charset="2"/>
              </a:rPr>
              <a:t>140 </a:t>
            </a:r>
            <a:r>
              <a:rPr lang="en-US">
                <a:sym typeface="Wingdings" panose="05000000000000000000" pitchFamily="2" charset="2"/>
              </a:rPr>
              <a:t>records.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2D440B-9A64-D7EE-6569-FF17F3431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812" y="3601528"/>
            <a:ext cx="6508375" cy="174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267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5256-ED0B-3B6E-2958-C348FB71C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B58FC2-4A20-8DD8-B619-5B0CA151D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7DB685-1A12-2225-A351-6A1A42486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DAFC1-4DC1-B6FD-5AB8-C6F83B699B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Evaluation Datasets</a:t>
            </a:r>
          </a:p>
          <a:p>
            <a:pPr lvl="1"/>
            <a:r>
              <a:rPr lang="en-US"/>
              <a:t>Router Evaluation</a:t>
            </a:r>
          </a:p>
          <a:p>
            <a:pPr lvl="2"/>
            <a:r>
              <a:rPr lang="en-US"/>
              <a:t>Requires: </a:t>
            </a:r>
            <a:r>
              <a:rPr lang="en-US" b="1"/>
              <a:t>user input</a:t>
            </a:r>
            <a:r>
              <a:rPr lang="en-US"/>
              <a:t>; predicted agent; label.</a:t>
            </a:r>
          </a:p>
          <a:p>
            <a:pPr lvl="2"/>
            <a:r>
              <a:rPr lang="en-US"/>
              <a:t>Use questions from the other 2 datasets for 2 labels, synthesize random questions for irrelevant label.</a:t>
            </a:r>
          </a:p>
          <a:p>
            <a:pPr lvl="2"/>
            <a:r>
              <a:rPr lang="en-US"/>
              <a:t>200 records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458413-3650-1383-8D23-941B2CCA1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34" y="3732660"/>
            <a:ext cx="6443932" cy="79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03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FD65-237B-2B04-371C-91D351D4E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499FBE-24FD-5518-422C-53DA476D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1DF1E0-E8B8-A98C-020C-DF90AE89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BF89C-FAC7-9D82-8AB5-DEFF39BE17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Evaluation Setup</a:t>
            </a:r>
          </a:p>
          <a:p>
            <a:pPr lvl="1"/>
            <a:r>
              <a:rPr lang="en-US"/>
              <a:t>Test the system with different LLMs (1 LLM for all modules)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Judge LLM: </a:t>
            </a:r>
            <a:r>
              <a:rPr lang="en-US" b="1"/>
              <a:t>GPT-4o-mini</a:t>
            </a:r>
          </a:p>
          <a:p>
            <a:pPr lvl="1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144E27-C4A6-D9AD-9355-0431F4A37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05" y="2227145"/>
            <a:ext cx="5620389" cy="201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911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1DEEA-8CF4-1BA7-D866-88EC079D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58F495-B7C8-CA2B-D4B7-5CAA3417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C1B5F4-FC16-2142-0E63-80BD5FD50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CEB03-4452-B063-9853-A1C6622C15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Evaluation Results</a:t>
            </a:r>
          </a:p>
          <a:p>
            <a:pPr lvl="1"/>
            <a:r>
              <a:rPr lang="en-US"/>
              <a:t>Qwen2.5 achieved the overall highest.</a:t>
            </a:r>
          </a:p>
          <a:p>
            <a:pPr lvl="1"/>
            <a:r>
              <a:rPr lang="en-US"/>
              <a:t>Thinking models struggle with QA.</a:t>
            </a:r>
          </a:p>
          <a:p>
            <a:pPr lvl="1"/>
            <a:r>
              <a:rPr lang="en-US"/>
              <a:t>&lt;7B models struggle heavily.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34F500-CFC2-E758-67DF-7A12E1149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62" y="2903957"/>
            <a:ext cx="7470475" cy="273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607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2AD56-561B-15F5-0788-A432D229A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B20008-3CA5-3883-91F0-778573C0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F513C7-8FA2-E744-DEC1-DEC269428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Conclusions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C9DA5-0BE3-BCE3-7795-00C2A31B0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Kết luận</a:t>
            </a:r>
          </a:p>
          <a:p>
            <a:r>
              <a:rPr lang="en-US"/>
              <a:t>Future works</a:t>
            </a:r>
          </a:p>
          <a:p>
            <a:pPr lvl="1"/>
            <a:r>
              <a:rPr lang="en-US"/>
              <a:t>Planner -&gt; multi-hop</a:t>
            </a:r>
          </a:p>
          <a:p>
            <a:pPr lvl="1"/>
            <a:r>
              <a:rPr lang="en-US"/>
              <a:t>Expand personnel data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7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</TotalTime>
  <Words>1014</Words>
  <Application>Microsoft Office PowerPoint</Application>
  <PresentationFormat>On-screen Show (4:3)</PresentationFormat>
  <Paragraphs>211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Lato</vt:lpstr>
      <vt:lpstr>Wingdings</vt:lpstr>
      <vt:lpstr>Office Theme</vt:lpstr>
      <vt:lpstr>PowerPoint Presentation</vt:lpstr>
      <vt:lpstr>PowerPoint Presentation</vt:lpstr>
      <vt:lpstr>Table of Content</vt:lpstr>
      <vt:lpstr>1. Motivation</vt:lpstr>
      <vt:lpstr>1. Motivation</vt:lpstr>
      <vt:lpstr>1. Motivation</vt:lpstr>
      <vt:lpstr>2. Objectives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4. Experiment Setup and Results</vt:lpstr>
      <vt:lpstr>4. Experiment Setup and Results</vt:lpstr>
      <vt:lpstr>4. Experiment Setup and Results</vt:lpstr>
      <vt:lpstr>4. Experiment Setup and Results</vt:lpstr>
      <vt:lpstr>4. Experiment Setup and Results</vt:lpstr>
      <vt:lpstr>4. Experiment Setup and Results</vt:lpstr>
      <vt:lpstr>4. Experiment Setup and Results</vt:lpstr>
      <vt:lpstr>4. Experiment Setup and Results</vt:lpstr>
      <vt:lpstr>4. Experiment Setup and Results</vt:lpstr>
      <vt:lpstr>5. 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Le Trung Kien 20214907</cp:lastModifiedBy>
  <cp:revision>15</cp:revision>
  <dcterms:created xsi:type="dcterms:W3CDTF">2021-05-28T04:32:29Z</dcterms:created>
  <dcterms:modified xsi:type="dcterms:W3CDTF">2025-06-20T18:14:46Z</dcterms:modified>
</cp:coreProperties>
</file>