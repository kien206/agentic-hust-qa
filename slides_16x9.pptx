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7"/>
  </p:notesMasterIdLst>
  <p:handoutMasterIdLst>
    <p:handoutMasterId r:id="rId38"/>
  </p:handoutMasterIdLst>
  <p:sldIdLst>
    <p:sldId id="259" r:id="rId5"/>
    <p:sldId id="256" r:id="rId6"/>
    <p:sldId id="257" r:id="rId7"/>
    <p:sldId id="260" r:id="rId8"/>
    <p:sldId id="261" r:id="rId9"/>
    <p:sldId id="269" r:id="rId10"/>
    <p:sldId id="285" r:id="rId11"/>
    <p:sldId id="286" r:id="rId12"/>
    <p:sldId id="266" r:id="rId13"/>
    <p:sldId id="281" r:id="rId14"/>
    <p:sldId id="277" r:id="rId15"/>
    <p:sldId id="292" r:id="rId16"/>
    <p:sldId id="293" r:id="rId17"/>
    <p:sldId id="294" r:id="rId18"/>
    <p:sldId id="278" r:id="rId19"/>
    <p:sldId id="295" r:id="rId20"/>
    <p:sldId id="296" r:id="rId21"/>
    <p:sldId id="297" r:id="rId22"/>
    <p:sldId id="298" r:id="rId23"/>
    <p:sldId id="279" r:id="rId24"/>
    <p:sldId id="299" r:id="rId25"/>
    <p:sldId id="280" r:id="rId26"/>
    <p:sldId id="300" r:id="rId27"/>
    <p:sldId id="301" r:id="rId28"/>
    <p:sldId id="302" r:id="rId29"/>
    <p:sldId id="282" r:id="rId30"/>
    <p:sldId id="303" r:id="rId31"/>
    <p:sldId id="304" r:id="rId32"/>
    <p:sldId id="305" r:id="rId33"/>
    <p:sldId id="306" r:id="rId34"/>
    <p:sldId id="283" r:id="rId35"/>
    <p:sldId id="307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7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>
        <p:scale>
          <a:sx n="100" d="100"/>
          <a:sy n="100" d="100"/>
        </p:scale>
        <p:origin x="930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6152509-8D0C-4712-AA81-AF54972C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58E92B09-5AF4-4E86-A8BE-E866F0E2C017}" type="datetime1">
              <a:rPr lang="en-US" smtClean="0"/>
              <a:pPr/>
              <a:t>6/22/2025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A90DE7-FAAB-4B91-AC83-B18850F1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FD5971E-BD21-416C-BC2E-97EE0E09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575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DEAFB3E9-4F5E-435C-B51A-CC5766A852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1:……………………………………..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9C57778-6639-411E-9B4C-12D035AECE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1058844"/>
            <a:ext cx="11514528" cy="490912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329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6/22/2025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3887669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6/22/2025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126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8A78F82-82C6-4F07-B7D8-4A1219A1BB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9A9EFEF-A194-4819-82D7-1112425D0E86}" type="datetime1">
              <a:rPr lang="en-US" smtClean="0"/>
              <a:pPr/>
              <a:t>6/22/2025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2041C72-5CA2-4523-9F1E-50662A327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AD6B24F-6759-4931-A1C4-77BA8AF7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1CD850F7-B0EC-49AD-960D-051EAF5F3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4:……………………………………..</a:t>
            </a:r>
          </a:p>
        </p:txBody>
      </p:sp>
      <p:sp>
        <p:nvSpPr>
          <p:cNvPr id="11" name="Chart Placeholder 14">
            <a:extLst>
              <a:ext uri="{FF2B5EF4-FFF2-40B4-BE49-F238E27FC236}">
                <a16:creationId xmlns:a16="http://schemas.microsoft.com/office/drawing/2014/main" id="{4A80550F-98CB-400B-9D36-210A7AED20E8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8736" y="1406525"/>
            <a:ext cx="5757264" cy="4670425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2" name="Table Placeholder 16">
            <a:extLst>
              <a:ext uri="{FF2B5EF4-FFF2-40B4-BE49-F238E27FC236}">
                <a16:creationId xmlns:a16="http://schemas.microsoft.com/office/drawing/2014/main" id="{15345DA2-1E92-473D-9483-A24F87614F3D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6210300" y="1392239"/>
            <a:ext cx="5592763" cy="46847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32426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F1F29B1-F2F8-4527-A0B9-5A566F0DB5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EEBFCEF3-2DDE-476B-8A96-303EC557333C}" type="datetime1">
              <a:rPr lang="en-US" smtClean="0"/>
              <a:pPr/>
              <a:t>6/22/2025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1F89192-9608-4DA0-9D58-CE5D74F01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1300396-45C9-472A-AA37-70408F1C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45B855E6-8413-49D5-929E-33A3B362751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8372" y="1248325"/>
            <a:ext cx="7391400" cy="52054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B6BBE52-BFE6-4B4F-95C1-25C2EB84A6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58372" y="404265"/>
            <a:ext cx="7391400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5:……………………………………..</a:t>
            </a:r>
          </a:p>
        </p:txBody>
      </p:sp>
    </p:spTree>
    <p:extLst>
      <p:ext uri="{BB962C8B-B14F-4D97-AF65-F5344CB8AC3E}">
        <p14:creationId xmlns:p14="http://schemas.microsoft.com/office/powerpoint/2010/main" val="4113439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6/22/2025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35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6/22/2025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960585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6/22/2025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032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6/22/2025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1226200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21A061D-9F38-49ED-BAF8-8055D9FB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2F65D4C-DEE4-4C7B-91C4-D6D57A523E98}" type="datetime1">
              <a:rPr lang="en-US" smtClean="0"/>
              <a:pPr/>
              <a:t>6/22/2025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90FAA6E-46AD-4366-8E80-2F5BEB7D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A5604C7-0828-446E-97CC-8D6162E6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881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60333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4">
            <a:extLst>
              <a:ext uri="{FF2B5EF4-FFF2-40B4-BE49-F238E27FC236}">
                <a16:creationId xmlns:a16="http://schemas.microsoft.com/office/drawing/2014/main" id="{4C167836-5AFF-4757-AB55-39FD3BBF9D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8898" y="2461846"/>
            <a:ext cx="4614203" cy="1934307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815202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65258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65258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572127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3436" y="78614"/>
            <a:ext cx="11565128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3436" y="841248"/>
            <a:ext cx="11565467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73074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65258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6/22/2025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65258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572127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5104" y="1423289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423289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3436" y="78614"/>
            <a:ext cx="11565128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8447786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65258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6/22/2025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65258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572127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5104" y="1423289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423289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3436" y="78614"/>
            <a:ext cx="11565128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5744325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65258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6/22/2025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65258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572127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5104" y="1423289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423289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3436" y="78614"/>
            <a:ext cx="11565128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34106239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65258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6/22/2025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65258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572127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5104" y="1423289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423289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3436" y="78614"/>
            <a:ext cx="11565128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3694297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0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9543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5" r:id="rId5"/>
    <p:sldLayoutId id="2147483654" r:id="rId6"/>
    <p:sldLayoutId id="2147483660" r:id="rId7"/>
    <p:sldLayoutId id="2147483659" r:id="rId8"/>
    <p:sldLayoutId id="2147483658" r:id="rId9"/>
    <p:sldLayoutId id="2147483661" r:id="rId10"/>
    <p:sldLayoutId id="2147483656" r:id="rId11"/>
    <p:sldLayoutId id="2147483657" r:id="rId12"/>
    <p:sldLayoutId id="2147483649" r:id="rId13"/>
    <p:sldLayoutId id="2147483662" r:id="rId14"/>
    <p:sldLayoutId id="2147483663" r:id="rId15"/>
    <p:sldLayoutId id="2147483667" r:id="rId16"/>
    <p:sldLayoutId id="2147483668" r:id="rId17"/>
    <p:sldLayoutId id="2147483669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ragas.io/en/stable/" TargetMode="Externa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6355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642BA63-383F-45B9-939A-7A3B792A6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8898" y="2461846"/>
            <a:ext cx="4614203" cy="1934307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4004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37FC17F-78B9-4DA3-B1E3-B6651CB17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634" y="331380"/>
            <a:ext cx="3174367" cy="952975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5702E00C-3125-4CD1-A5F8-64723BF48E3E}"/>
              </a:ext>
            </a:extLst>
          </p:cNvPr>
          <p:cNvSpPr txBox="1">
            <a:spLocks/>
          </p:cNvSpPr>
          <p:nvPr/>
        </p:nvSpPr>
        <p:spPr>
          <a:xfrm>
            <a:off x="386634" y="2219413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3400"/>
              <a:t>Agentic Question Answering System for HUST Documents and Lecturers</a:t>
            </a:r>
            <a:endParaRPr lang="en-US" sz="3400" dirty="0"/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72BF49D9-2FCE-4950-8B1C-F580CC18F4C9}"/>
              </a:ext>
            </a:extLst>
          </p:cNvPr>
          <p:cNvSpPr txBox="1">
            <a:spLocks/>
          </p:cNvSpPr>
          <p:nvPr/>
        </p:nvSpPr>
        <p:spPr>
          <a:xfrm>
            <a:off x="386634" y="3365399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b="0">
                <a:solidFill>
                  <a:schemeClr val="accent1"/>
                </a:solidFill>
              </a:rPr>
              <a:t>Name: Le Trung Kien</a:t>
            </a:r>
          </a:p>
          <a:p>
            <a:r>
              <a:rPr lang="en-US" sz="2800" b="0">
                <a:solidFill>
                  <a:schemeClr val="accent1"/>
                </a:solidFill>
              </a:rPr>
              <a:t>Student ID: 20214907</a:t>
            </a:r>
            <a:br>
              <a:rPr lang="en-US" sz="2800" b="0">
                <a:solidFill>
                  <a:schemeClr val="accent1"/>
                </a:solidFill>
              </a:rPr>
            </a:br>
            <a:r>
              <a:rPr lang="en-US" sz="2800" b="0">
                <a:solidFill>
                  <a:schemeClr val="accent1"/>
                </a:solidFill>
              </a:rPr>
              <a:t>Supervisor: Dr. Dinh Viet Sang</a:t>
            </a:r>
          </a:p>
          <a:p>
            <a:endParaRPr lang="en-US" sz="2800" b="0">
              <a:solidFill>
                <a:schemeClr val="accent1"/>
              </a:solidFill>
            </a:endParaRPr>
          </a:p>
          <a:p>
            <a:endParaRPr lang="en-US" sz="2800" b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BF4829-01AB-4F75-A03B-DF4FC4C3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AB879D-D188-4DA3-8675-F8BCF379A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0A52D3-4AED-2A74-0719-8C1E58B7843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/>
              <a:t>Motivation</a:t>
            </a:r>
          </a:p>
          <a:p>
            <a:pPr marL="514350" indent="-514350">
              <a:buAutoNum type="arabicPeriod"/>
            </a:pPr>
            <a:r>
              <a:rPr lang="en-US"/>
              <a:t>Objectives</a:t>
            </a:r>
          </a:p>
          <a:p>
            <a:pPr marL="514350" indent="-514350">
              <a:buAutoNum type="arabicPeriod"/>
            </a:pPr>
            <a:r>
              <a:rPr lang="en-US"/>
              <a:t>Methodology</a:t>
            </a:r>
          </a:p>
          <a:p>
            <a:pPr marL="514350" indent="-514350">
              <a:buAutoNum type="arabicPeriod"/>
            </a:pPr>
            <a:r>
              <a:rPr lang="en-US"/>
              <a:t>Experimental Setup and Results</a:t>
            </a:r>
          </a:p>
          <a:p>
            <a:pPr marL="514350" indent="-514350">
              <a:buAutoNum type="arabicPeriod"/>
            </a:pPr>
            <a:r>
              <a:rPr lang="en-US"/>
              <a:t>Conclusions</a:t>
            </a:r>
          </a:p>
          <a:p>
            <a:endParaRPr lang="vi-V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1D2386B-D3FB-A524-3010-AA2007DA9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Table of Content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1433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6CB3A-046A-4C56-A02D-DBF672421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C8196C5E-7B93-4E81-B617-CD97C06D6032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77CB842-AD15-4F5A-8EF5-EBD6CE5F54A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76946D-AB92-4D05-97ED-4EDF0AB0F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84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Motivation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9D5187E-54DB-82F9-9B0D-AE72D71C9DC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776992" y="2707888"/>
            <a:ext cx="5501888" cy="335278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3B575F-34A2-13D9-69D3-FE3A4A65C8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6607" y="2619395"/>
            <a:ext cx="4895363" cy="31660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577B43C-0F9E-E300-0954-4CDAF161F76E}"/>
              </a:ext>
            </a:extLst>
          </p:cNvPr>
          <p:cNvSpPr txBox="1"/>
          <p:nvPr/>
        </p:nvSpPr>
        <p:spPr>
          <a:xfrm>
            <a:off x="313436" y="915847"/>
            <a:ext cx="8673846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HUST students + prospectives needs of information is huge.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Admission, scholarships, personnels information,…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Current portals </a:t>
            </a:r>
            <a:r>
              <a:rPr lang="en-US" sz="22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such as </a:t>
            </a:r>
            <a:r>
              <a:rPr lang="en-US" sz="22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CTT</a:t>
            </a:r>
            <a:r>
              <a:rPr lang="en-US" sz="22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lang="en-US" sz="22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QLDT</a:t>
            </a:r>
            <a:r>
              <a:rPr lang="en-US" sz="22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,… are </a:t>
            </a:r>
            <a:r>
              <a:rPr lang="en-US" sz="22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hard to navigate/unvailable </a:t>
            </a:r>
            <a:r>
              <a:rPr lang="en-US" sz="22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 non-HUSTers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1E0CB7-135C-F17F-3BC5-F7A55994122A}"/>
              </a:ext>
            </a:extLst>
          </p:cNvPr>
          <p:cNvSpPr txBox="1"/>
          <p:nvPr/>
        </p:nvSpPr>
        <p:spPr>
          <a:xfrm>
            <a:off x="3281680" y="5852160"/>
            <a:ext cx="599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CTT + QLDT Portals</a:t>
            </a:r>
            <a:endParaRPr lang="vi-VN" b="1"/>
          </a:p>
        </p:txBody>
      </p:sp>
    </p:spTree>
    <p:extLst>
      <p:ext uri="{BB962C8B-B14F-4D97-AF65-F5344CB8AC3E}">
        <p14:creationId xmlns:p14="http://schemas.microsoft.com/office/powerpoint/2010/main" val="292364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765CB-5302-5D4F-EBBF-55F60F361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8CA6AC-E151-8B2C-783B-E69CF6D6F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F9CBBC5-0355-6754-F412-8C758340E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5104" y="1423289"/>
            <a:ext cx="5905246" cy="4351338"/>
          </a:xfrm>
        </p:spPr>
        <p:txBody>
          <a:bodyPr/>
          <a:lstStyle/>
          <a:p>
            <a:r>
              <a:rPr lang="en-US"/>
              <a:t>Solutions like </a:t>
            </a:r>
            <a:r>
              <a:rPr lang="en-US" b="1"/>
              <a:t>HUST Assistant </a:t>
            </a:r>
            <a:r>
              <a:rPr lang="en-US"/>
              <a:t>(on QLDT) </a:t>
            </a:r>
          </a:p>
          <a:p>
            <a:pPr lvl="1"/>
            <a:r>
              <a:rPr lang="en-US"/>
              <a:t>do not covers enough information </a:t>
            </a:r>
          </a:p>
          <a:p>
            <a:pPr lvl="1"/>
            <a:r>
              <a:rPr lang="en-US"/>
              <a:t>not accessible for prospective HUST admission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B8E3FF-7DB4-60CA-37F1-3B1AE1ADACD4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1. Motivation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B34C79-A628-86B0-E3BB-38E03BE15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3738" y="1298750"/>
            <a:ext cx="3226211" cy="414318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893094B-BB02-27BF-319B-D2A6C3D6D3C1}"/>
              </a:ext>
            </a:extLst>
          </p:cNvPr>
          <p:cNvSpPr txBox="1"/>
          <p:nvPr/>
        </p:nvSpPr>
        <p:spPr>
          <a:xfrm>
            <a:off x="7872226" y="5451461"/>
            <a:ext cx="31577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HUST Assistant </a:t>
            </a:r>
            <a:br>
              <a:rPr lang="en-US" b="1"/>
            </a:br>
            <a:r>
              <a:rPr lang="en-US"/>
              <a:t>(taken on 19/06 5:20pm)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80537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76946D-AB92-4D05-97ED-4EDF0AB0F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B6CB3A-046A-4C56-A02D-DBF672421CAF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2. Objectives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207C78E-166B-105A-6D40-BD93DBAE84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Information ambiguity, hard to access and scattered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/>
              <a:t>A centralized, easy-to-use system to answer questions about HUST documents, personnel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Many types of information, update regularly</a:t>
            </a:r>
          </a:p>
          <a:p>
            <a:pPr marL="0" indent="0">
              <a:buNone/>
            </a:pPr>
            <a:r>
              <a:rPr lang="en-US">
                <a:sym typeface="Wingdings" panose="05000000000000000000" pitchFamily="2" charset="2"/>
              </a:rPr>
              <a:t> Agentic system based on LLM for </a:t>
            </a:r>
            <a:r>
              <a:rPr lang="en-US" b="1">
                <a:sym typeface="Wingdings" panose="05000000000000000000" pitchFamily="2" charset="2"/>
              </a:rPr>
              <a:t>flexibility, adaptability and scalability</a:t>
            </a:r>
            <a:endParaRPr lang="en-US" b="1"/>
          </a:p>
          <a:p>
            <a:pPr marL="0" indent="0">
              <a:buNone/>
            </a:pP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98490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9CAB07-B0CD-4712-9734-2D3CBC725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39C6F49-1887-4BE4-A583-FB79B8A22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Methodology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311219-8684-45FC-A126-E067924AC7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Overall Architecture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DD0F4A-7FA5-2E4E-586E-D20749552E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1036" y="1828800"/>
            <a:ext cx="8029928" cy="3862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358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C89CE-0299-D112-08C0-225FEE965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97817C-017F-4008-D774-77CE67B22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2B447C9-2DAD-E248-4FEE-B0BBB6D47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Methodology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218971-A5DB-A7E1-9F42-56BBDB2BA51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Router</a:t>
            </a:r>
          </a:p>
          <a:p>
            <a:pPr lvl="1"/>
            <a:r>
              <a:rPr lang="en-US"/>
              <a:t>Decides which agent/flow to use</a:t>
            </a:r>
          </a:p>
          <a:p>
            <a:pPr lvl="1"/>
            <a:r>
              <a:rPr lang="en-US"/>
              <a:t>LLM for flexibility and scalability (adding new agent)</a:t>
            </a:r>
          </a:p>
          <a:p>
            <a:pPr lvl="2"/>
            <a:r>
              <a:rPr lang="en-US"/>
              <a:t>University advices, regulations </a:t>
            </a:r>
            <a:r>
              <a:rPr lang="en-US">
                <a:sym typeface="Wingdings" panose="05000000000000000000" pitchFamily="2" charset="2"/>
              </a:rPr>
              <a:t></a:t>
            </a:r>
            <a:r>
              <a:rPr lang="en-US"/>
              <a:t>RAG Flow</a:t>
            </a:r>
          </a:p>
          <a:p>
            <a:pPr lvl="2"/>
            <a:r>
              <a:rPr lang="en-US"/>
              <a:t>Personnel </a:t>
            </a:r>
            <a:r>
              <a:rPr lang="en-US">
                <a:sym typeface="Wingdings" panose="05000000000000000000" pitchFamily="2" charset="2"/>
              </a:rPr>
              <a:t></a:t>
            </a:r>
            <a:r>
              <a:rPr lang="en-US"/>
              <a:t> Text2SQL Agent</a:t>
            </a:r>
          </a:p>
          <a:p>
            <a:pPr lvl="2"/>
            <a:r>
              <a:rPr lang="en-US"/>
              <a:t>Irrelevant </a:t>
            </a:r>
            <a:r>
              <a:rPr lang="en-US">
                <a:sym typeface="Wingdings" panose="05000000000000000000" pitchFamily="2" charset="2"/>
              </a:rPr>
              <a:t> Answer immediately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24FAA8-A456-B905-6DA5-A9047BE22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706" y="3529584"/>
            <a:ext cx="6906589" cy="166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8224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8B554-E15F-344F-4FD1-9AC4BCE01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DD4002-C7EC-9459-9EA9-D5E84BBCD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620503A-FECD-396C-082F-37753DE92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Methodology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FC1629-6137-53C7-C586-D8B3DE0B49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RAG Pipeline</a:t>
            </a:r>
          </a:p>
          <a:p>
            <a:pPr lvl="1"/>
            <a:r>
              <a:rPr lang="en-US"/>
              <a:t>Handles questions about documents such as education regulations, scholarships regulations,…</a:t>
            </a:r>
          </a:p>
          <a:p>
            <a:pPr lvl="1"/>
            <a:r>
              <a:rPr lang="en-US"/>
              <a:t>Dynamically switch to web search for unvailable data.</a:t>
            </a:r>
          </a:p>
          <a:p>
            <a:pPr lvl="1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180CBA-1B6B-1D1B-886B-15A3779A0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1440" y="2667952"/>
            <a:ext cx="6583680" cy="3565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888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E6BA4-73B6-B039-818E-E31B2EAAD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184F8E-7A49-5E42-DBE9-640E6F25A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44A5DC6-AB61-3C36-4E50-42B7FD3D8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Methodology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99C2CD-260E-E812-D543-6D9EC5447B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Retrieval Agent (vector search)</a:t>
            </a:r>
          </a:p>
          <a:p>
            <a:pPr lvl="1"/>
            <a:r>
              <a:rPr lang="en-US" b="1"/>
              <a:t>Retrieve</a:t>
            </a:r>
            <a:r>
              <a:rPr lang="en-US"/>
              <a:t> relevant chunks using </a:t>
            </a:r>
            <a:r>
              <a:rPr lang="en-US" b="1"/>
              <a:t>hybrid search</a:t>
            </a:r>
            <a:r>
              <a:rPr lang="en-US"/>
              <a:t>.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marL="457200" lvl="1" indent="0">
              <a:buNone/>
            </a:pPr>
            <a:endParaRPr lang="en-US"/>
          </a:p>
          <a:p>
            <a:pPr lvl="1"/>
            <a:r>
              <a:rPr lang="en-US" b="1"/>
              <a:t>Grade documents </a:t>
            </a:r>
            <a:r>
              <a:rPr lang="en-US"/>
              <a:t>(LLM) to </a:t>
            </a:r>
            <a:r>
              <a:rPr lang="en-US" b="1"/>
              <a:t>filter</a:t>
            </a:r>
            <a:r>
              <a:rPr lang="en-US"/>
              <a:t> irrelevant documents.</a:t>
            </a:r>
          </a:p>
          <a:p>
            <a:pPr lvl="2"/>
            <a:r>
              <a:rPr lang="en-US"/>
              <a:t>No documents </a:t>
            </a:r>
            <a:r>
              <a:rPr lang="en-US">
                <a:sym typeface="Wingdings" panose="05000000000000000000" pitchFamily="2" charset="2"/>
              </a:rPr>
              <a:t> Web Search Agent (discussed later).</a:t>
            </a:r>
          </a:p>
          <a:p>
            <a:pPr lvl="2"/>
            <a:r>
              <a:rPr lang="en-US">
                <a:sym typeface="Wingdings" panose="05000000000000000000" pitchFamily="2" charset="2"/>
              </a:rPr>
              <a:t>Relevant  Generation Agent (discussed later).</a:t>
            </a:r>
            <a:endParaRPr lang="en-US"/>
          </a:p>
          <a:p>
            <a:pPr lvl="1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214425-28D5-1B74-5296-9501DC1DD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394" y="1871975"/>
            <a:ext cx="6021237" cy="18821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605660-79B8-4A0A-0748-320F75EE3A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5347" y="4129469"/>
            <a:ext cx="7441307" cy="795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1586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2535C-CBE4-4B3B-EBDE-87F7C30F6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321319-4B3F-7DDB-C332-42A61C2BE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E99DCB-3574-F9B7-CBF7-E390CC6D9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Methodology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6D26A5-51F4-0970-1A7C-E68806F501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HUST documents</a:t>
            </a:r>
          </a:p>
          <a:p>
            <a:pPr lvl="1"/>
            <a:r>
              <a:rPr lang="en-US"/>
              <a:t>21 PDFs covering multiple regulations</a:t>
            </a:r>
          </a:p>
          <a:p>
            <a:pPr lvl="1"/>
            <a:r>
              <a:rPr lang="en-US"/>
              <a:t>Only text + tabular data. Can be scanned images.</a:t>
            </a:r>
          </a:p>
          <a:p>
            <a:pPr lvl="1"/>
            <a:endParaRPr lang="en-US"/>
          </a:p>
          <a:p>
            <a:pPr lvl="1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8615D5-29C1-75D8-EF98-C470C17782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469" y="2258132"/>
            <a:ext cx="4739420" cy="40032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6A1376F-7D3A-84DC-0391-64927F6D652E}"/>
              </a:ext>
            </a:extLst>
          </p:cNvPr>
          <p:cNvSpPr txBox="1"/>
          <p:nvPr/>
        </p:nvSpPr>
        <p:spPr>
          <a:xfrm>
            <a:off x="6212063" y="3641728"/>
            <a:ext cx="4236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Used HUST documents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870366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BE425-E354-7F23-63EE-58B504563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90BF9D-EB4C-C6E2-03C3-2421E0217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925C12-4313-1757-8A98-AFC0A4AD27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5103" y="1423289"/>
            <a:ext cx="11194607" cy="4351338"/>
          </a:xfrm>
        </p:spPr>
        <p:txBody>
          <a:bodyPr/>
          <a:lstStyle/>
          <a:p>
            <a:r>
              <a:rPr lang="en-US" sz="2200"/>
              <a:t>HUST documents</a:t>
            </a:r>
          </a:p>
          <a:p>
            <a:pPr lvl="1"/>
            <a:r>
              <a:rPr lang="en-US" sz="2200"/>
              <a:t>Parsed into </a:t>
            </a:r>
            <a:r>
              <a:rPr lang="en-US" sz="2200" b="1"/>
              <a:t>Markdown </a:t>
            </a:r>
            <a:r>
              <a:rPr lang="en-US" sz="2200"/>
              <a:t>using </a:t>
            </a:r>
            <a:r>
              <a:rPr lang="en-US" sz="2200" b="1"/>
              <a:t>LlamaParse</a:t>
            </a:r>
          </a:p>
          <a:p>
            <a:pPr lvl="1"/>
            <a:r>
              <a:rPr lang="en-US" sz="2200"/>
              <a:t>Structured </a:t>
            </a:r>
            <a:r>
              <a:rPr lang="en-US" sz="2200" b="1"/>
              <a:t>chunking</a:t>
            </a:r>
            <a:r>
              <a:rPr lang="en-US" sz="2200"/>
              <a:t> using </a:t>
            </a:r>
            <a:r>
              <a:rPr lang="en-US" sz="2200" b="1"/>
              <a:t>Regex</a:t>
            </a:r>
          </a:p>
          <a:p>
            <a:pPr lvl="1"/>
            <a:endParaRPr lang="en-US" sz="2200"/>
          </a:p>
          <a:p>
            <a:pPr lvl="1"/>
            <a:endParaRPr lang="en-US" sz="220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7CDDE79-1D56-EB63-1B5A-1235C130D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Methodology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A8D050-D59B-EAB3-9B34-CA4479CBA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85" y="2960822"/>
            <a:ext cx="2941869" cy="26899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F3DE7D2-F6C3-E398-5528-3919972BA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916" y="3107622"/>
            <a:ext cx="3669568" cy="237526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A474AC4-FBB2-9752-D943-9E9E4B3579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0312" y="3128741"/>
            <a:ext cx="3486795" cy="2354142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635100E-C229-9BE2-E01B-3C210E798000}"/>
              </a:ext>
            </a:extLst>
          </p:cNvPr>
          <p:cNvCxnSpPr>
            <a:cxnSpLocks/>
            <a:stCxn id="6" idx="3"/>
            <a:endCxn id="12" idx="1"/>
          </p:cNvCxnSpPr>
          <p:nvPr/>
        </p:nvCxnSpPr>
        <p:spPr>
          <a:xfrm>
            <a:off x="3100854" y="4305812"/>
            <a:ext cx="95945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AA98567-72FF-D39A-E101-00171077E390}"/>
              </a:ext>
            </a:extLst>
          </p:cNvPr>
          <p:cNvCxnSpPr>
            <a:cxnSpLocks/>
            <a:stCxn id="12" idx="3"/>
            <a:endCxn id="10" idx="1"/>
          </p:cNvCxnSpPr>
          <p:nvPr/>
        </p:nvCxnSpPr>
        <p:spPr>
          <a:xfrm flipV="1">
            <a:off x="7547107" y="4295253"/>
            <a:ext cx="865809" cy="1055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664A5037-27AB-A515-57D3-DB6F057FBB0A}"/>
              </a:ext>
            </a:extLst>
          </p:cNvPr>
          <p:cNvSpPr txBox="1"/>
          <p:nvPr/>
        </p:nvSpPr>
        <p:spPr>
          <a:xfrm>
            <a:off x="3003614" y="3975489"/>
            <a:ext cx="12843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LlamaParse</a:t>
            </a:r>
            <a:endParaRPr lang="vi-VN" sz="12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DC7622F-56F3-4311-826A-9C5BDF91D039}"/>
              </a:ext>
            </a:extLst>
          </p:cNvPr>
          <p:cNvSpPr txBox="1"/>
          <p:nvPr/>
        </p:nvSpPr>
        <p:spPr>
          <a:xfrm>
            <a:off x="7543049" y="4028813"/>
            <a:ext cx="12843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Chunking</a:t>
            </a:r>
            <a:endParaRPr lang="vi-VN" sz="12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17544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7A1AE-0095-4D9B-0F79-860616695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CB282F-45D9-196E-99EA-DEE47FFB5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5A65607-A405-4789-5828-6FF1BBE25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Methodology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0D4D0F-1632-9DCF-7842-E4F67FA5E4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Text2SQL Agent</a:t>
            </a:r>
          </a:p>
          <a:p>
            <a:pPr lvl="1"/>
            <a:r>
              <a:rPr lang="en-US"/>
              <a:t>Handels queries relating personnel information.</a:t>
            </a:r>
          </a:p>
          <a:p>
            <a:pPr lvl="1"/>
            <a:r>
              <a:rPr lang="en-US"/>
              <a:t>Switch to web search for unvailable data.</a:t>
            </a:r>
          </a:p>
          <a:p>
            <a:pPr lvl="1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58B28B-07F4-75BA-FC88-3E0A88448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274" y="2339736"/>
            <a:ext cx="7578096" cy="3892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8467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62B62-937A-E440-BED2-0D71A294F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F76456-0E6F-5214-6CBE-497802D30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7F01245-E696-836B-2431-6725A9F99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Methodology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B83FFB-8D57-1A85-F5E0-956D134772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Text2SQL Agent</a:t>
            </a:r>
          </a:p>
          <a:p>
            <a:pPr lvl="1"/>
            <a:r>
              <a:rPr lang="en-US"/>
              <a:t>Data crawled from </a:t>
            </a:r>
            <a:r>
              <a:rPr lang="en-US" b="1"/>
              <a:t>SoICT website</a:t>
            </a:r>
            <a:r>
              <a:rPr lang="en-US"/>
              <a:t>, all data are text.</a:t>
            </a:r>
          </a:p>
          <a:p>
            <a:pPr lvl="1"/>
            <a:r>
              <a:rPr lang="en-US"/>
              <a:t>Data is normalized </a:t>
            </a:r>
            <a:r>
              <a:rPr lang="en-US">
                <a:sym typeface="Wingdings" panose="05000000000000000000" pitchFamily="2" charset="2"/>
              </a:rPr>
              <a:t> concatenate to add into 1 table.</a:t>
            </a: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026861-3E4A-AEEB-D07F-0972CCD70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5065" y="2404606"/>
            <a:ext cx="2386162" cy="3566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0812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3D866-B430-DD7F-92DE-104BC9A8A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7CA294-263B-825B-242D-E7EB92CD8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2F5D9AC-79D0-761A-FB1A-4BF3789DE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Methodology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C18939-76CC-65A4-BA93-15190A917F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Text2SQL Agent</a:t>
            </a:r>
          </a:p>
          <a:p>
            <a:pPr lvl="1"/>
            <a:r>
              <a:rPr lang="en-US" b="1"/>
              <a:t>NER</a:t>
            </a:r>
            <a:r>
              <a:rPr lang="en-US"/>
              <a:t>: detects </a:t>
            </a:r>
            <a:r>
              <a:rPr lang="en-US" b="1"/>
              <a:t>entities</a:t>
            </a:r>
            <a:r>
              <a:rPr lang="en-US"/>
              <a:t> in questions.</a:t>
            </a:r>
          </a:p>
          <a:p>
            <a:pPr lvl="2"/>
            <a:r>
              <a:rPr lang="en-US" b="1"/>
              <a:t>Input</a:t>
            </a:r>
            <a:r>
              <a:rPr lang="en-US"/>
              <a:t>: </a:t>
            </a:r>
            <a:r>
              <a:rPr lang="vi-VN"/>
              <a:t>Có những ai tên Linh dạy môn Khoa học dữ liệu?</a:t>
            </a:r>
          </a:p>
          <a:p>
            <a:pPr lvl="2"/>
            <a:r>
              <a:rPr lang="vi-VN" b="1"/>
              <a:t>Output</a:t>
            </a:r>
            <a:r>
              <a:rPr lang="vi-VN"/>
              <a:t>: {name: ’Linh’, subject: ’Khoa học dữ liệu’}.</a:t>
            </a:r>
          </a:p>
          <a:p>
            <a:pPr lvl="1"/>
            <a:r>
              <a:rPr lang="vi-VN" b="1"/>
              <a:t>Intent detection</a:t>
            </a:r>
            <a:r>
              <a:rPr lang="vi-VN"/>
              <a:t>: what </a:t>
            </a:r>
            <a:r>
              <a:rPr lang="vi-VN" b="1"/>
              <a:t>information </a:t>
            </a:r>
            <a:r>
              <a:rPr lang="vi-VN"/>
              <a:t>(columns) the user needs.</a:t>
            </a:r>
          </a:p>
          <a:p>
            <a:pPr lvl="1"/>
            <a:r>
              <a:rPr lang="vi-VN"/>
              <a:t>Both uses LLM.</a:t>
            </a:r>
          </a:p>
          <a:p>
            <a:pPr lvl="1"/>
            <a:endParaRPr lang="en-US"/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8301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56BC9-608F-97AE-906E-C1C999C42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3D85835-1A27-D679-B932-C1366A706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3B9F30B-96AC-05A2-2B9D-D254BC4C0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Methodology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441B12-6C9D-3CD5-5ACA-B84705C84D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Text2SQL Agent</a:t>
            </a:r>
          </a:p>
          <a:p>
            <a:pPr lvl="1"/>
            <a:r>
              <a:rPr lang="vi-VN"/>
              <a:t>Entities and intent (information) is used to </a:t>
            </a:r>
            <a:r>
              <a:rPr lang="vi-VN" b="1"/>
              <a:t>fill a template</a:t>
            </a:r>
            <a:r>
              <a:rPr lang="vi-VN"/>
              <a:t>.</a:t>
            </a:r>
          </a:p>
          <a:p>
            <a:pPr lvl="1"/>
            <a:endParaRPr lang="vi-VN"/>
          </a:p>
          <a:p>
            <a:pPr lvl="1"/>
            <a:endParaRPr lang="vi-VN"/>
          </a:p>
          <a:p>
            <a:pPr lvl="2"/>
            <a:r>
              <a:rPr lang="vi-VN"/>
              <a:t>Entities are grouped together with OR clause and combined with AND clause.</a:t>
            </a:r>
          </a:p>
          <a:p>
            <a:pPr lvl="2"/>
            <a:r>
              <a:rPr lang="vi-VN"/>
              <a:t>Use </a:t>
            </a:r>
            <a:r>
              <a:rPr lang="vi-VN" b="1"/>
              <a:t>partial string matching </a:t>
            </a:r>
            <a:r>
              <a:rPr lang="vi-VN"/>
              <a:t>since most columns are text</a:t>
            </a:r>
            <a:r>
              <a:rPr lang="vi-VN" b="1"/>
              <a:t>.</a:t>
            </a:r>
            <a:endParaRPr lang="en-US" b="1"/>
          </a:p>
          <a:p>
            <a:pPr lvl="1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7CD2ED-3CA5-A5D7-1C07-96DD309AF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5687" y="1864881"/>
            <a:ext cx="6115904" cy="79068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38EB63D-D1E1-3630-0BC8-7EFEF66BB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4581" y="3732356"/>
            <a:ext cx="7278116" cy="216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4721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46A1D-269C-69D5-B4CD-96974B063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61B867-5681-5BA5-6BAA-F54AEEBE3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680984-B947-F166-63D7-C008CE1F8C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3437" y="1423289"/>
            <a:ext cx="5982588" cy="4351338"/>
          </a:xfrm>
        </p:spPr>
        <p:txBody>
          <a:bodyPr/>
          <a:lstStyle/>
          <a:p>
            <a:r>
              <a:rPr lang="en-US"/>
              <a:t>Text2SQL Agent</a:t>
            </a:r>
          </a:p>
          <a:p>
            <a:pPr lvl="1"/>
            <a:r>
              <a:rPr lang="vi-VN"/>
              <a:t>Template filling </a:t>
            </a:r>
          </a:p>
          <a:p>
            <a:pPr lvl="2"/>
            <a:r>
              <a:rPr lang="vi-VN"/>
              <a:t>handles most of the simple questions.</a:t>
            </a:r>
          </a:p>
          <a:p>
            <a:pPr lvl="2"/>
            <a:r>
              <a:rPr lang="vi-VN"/>
              <a:t>Fails more complex questions.</a:t>
            </a:r>
          </a:p>
          <a:p>
            <a:pPr lvl="2">
              <a:buFont typeface="Wingdings" panose="05000000000000000000" pitchFamily="2" charset="2"/>
              <a:buChar char="à"/>
            </a:pPr>
            <a:r>
              <a:rPr lang="vi-VN">
                <a:sym typeface="Wingdings" panose="05000000000000000000" pitchFamily="2" charset="2"/>
              </a:rPr>
              <a:t>Query Fixer</a:t>
            </a:r>
          </a:p>
          <a:p>
            <a:pPr lvl="1"/>
            <a:r>
              <a:rPr lang="vi-VN" b="1">
                <a:sym typeface="Wingdings" panose="05000000000000000000" pitchFamily="2" charset="2"/>
              </a:rPr>
              <a:t>Query Fixer </a:t>
            </a:r>
            <a:r>
              <a:rPr lang="vi-VN">
                <a:sym typeface="Wingdings" panose="05000000000000000000" pitchFamily="2" charset="2"/>
              </a:rPr>
              <a:t>fixes queries with more than 1 conditions</a:t>
            </a:r>
          </a:p>
          <a:p>
            <a:pPr lvl="2"/>
            <a:r>
              <a:rPr lang="vi-VN">
                <a:sym typeface="Wingdings" panose="05000000000000000000" pitchFamily="2" charset="2"/>
              </a:rPr>
              <a:t>Uses an LLM.</a:t>
            </a:r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5CB8DBC-8D76-377C-B2BE-438492F61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Methodology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9C6663-E1CC-95B0-C10D-5C6877767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656" y="1959166"/>
            <a:ext cx="5791055" cy="381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1569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7C5A4-5B9C-57A3-DF6D-14820100B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599C10-0B16-8DEE-43B9-DAB6DF387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F5F4E2C-297B-9E92-40E6-A1F282896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Methodology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58622A-A4BC-1AFA-F3FA-D417AF18DD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Retrieval Agent (Web Search)</a:t>
            </a:r>
          </a:p>
          <a:p>
            <a:pPr lvl="1"/>
            <a:r>
              <a:rPr lang="en-US"/>
              <a:t>Retrieve context when </a:t>
            </a:r>
          </a:p>
          <a:p>
            <a:pPr lvl="2"/>
            <a:r>
              <a:rPr lang="en-US" b="1"/>
              <a:t>RAG Flow </a:t>
            </a:r>
            <a:r>
              <a:rPr lang="en-US"/>
              <a:t>has no relevant document.</a:t>
            </a:r>
          </a:p>
          <a:p>
            <a:pPr lvl="2"/>
            <a:r>
              <a:rPr lang="en-US" b="1"/>
              <a:t>Text2SQL Agent </a:t>
            </a:r>
            <a:r>
              <a:rPr lang="en-US"/>
              <a:t>returns no output.</a:t>
            </a:r>
          </a:p>
          <a:p>
            <a:pPr lvl="1"/>
            <a:r>
              <a:rPr lang="en-US"/>
              <a:t>Preprocess the queries </a:t>
            </a:r>
            <a:r>
              <a:rPr lang="en-US">
                <a:sym typeface="Wingdings" panose="05000000000000000000" pitchFamily="2" charset="2"/>
              </a:rPr>
              <a:t> Search web  Summarize using an LLM  Context.</a:t>
            </a:r>
            <a:endParaRPr lang="en-US"/>
          </a:p>
          <a:p>
            <a:pPr lvl="1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135CDA-AD82-B260-9EE3-2415FC3DB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701" y="3529584"/>
            <a:ext cx="6867383" cy="231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0895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675B1-3FE5-94EC-E19A-FF89FBA2E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1F2439-70A0-861D-A379-88DCD84BE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65A0384-B87D-00AA-62B9-31E17E468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Methodology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4DA27D-8D68-3AF2-8689-9871441430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Generation Agent</a:t>
            </a:r>
          </a:p>
          <a:p>
            <a:pPr lvl="1"/>
            <a:r>
              <a:rPr lang="en-US"/>
              <a:t>Generate the answer based on context.</a:t>
            </a:r>
          </a:p>
          <a:p>
            <a:pPr lvl="2"/>
            <a:r>
              <a:rPr lang="en-US"/>
              <a:t>Documents/Web data:</a:t>
            </a:r>
          </a:p>
          <a:p>
            <a:pPr lvl="3"/>
            <a:r>
              <a:rPr lang="en-US"/>
              <a:t>LLM call based on context.</a:t>
            </a:r>
          </a:p>
          <a:p>
            <a:pPr lvl="3"/>
            <a:r>
              <a:rPr lang="en-US"/>
              <a:t>Include metadata.</a:t>
            </a:r>
          </a:p>
          <a:p>
            <a:pPr lvl="2"/>
            <a:r>
              <a:rPr lang="en-US"/>
              <a:t>Personnel data:</a:t>
            </a:r>
          </a:p>
          <a:p>
            <a:pPr lvl="3"/>
            <a:r>
              <a:rPr lang="en-US"/>
              <a:t>Return a </a:t>
            </a:r>
            <a:r>
              <a:rPr lang="en-US" b="1"/>
              <a:t>template answer </a:t>
            </a:r>
            <a:r>
              <a:rPr lang="en-US"/>
              <a:t>to save cost.</a:t>
            </a:r>
          </a:p>
          <a:p>
            <a:pPr lvl="1"/>
            <a:endParaRPr lang="en-US"/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2295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708C1-ABC2-5052-4CE7-C1FB1F32C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B45106-7B7B-B0C8-EAAE-E8F7D3E0A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3AC7DE8-61AC-CE21-0ECE-7E997E575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Experiment Setup and Results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C809EA-B11B-75D5-3196-816C8DD68B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>
                <a:hlinkClick r:id="rId2"/>
              </a:rPr>
              <a:t>RAGAS</a:t>
            </a:r>
            <a:endParaRPr lang="en-US"/>
          </a:p>
          <a:p>
            <a:pPr lvl="1"/>
            <a:r>
              <a:rPr lang="en-US"/>
              <a:t>Framework for evaluating LLM-based systems.</a:t>
            </a:r>
          </a:p>
          <a:p>
            <a:pPr lvl="1"/>
            <a:r>
              <a:rPr lang="en-US"/>
              <a:t>Includes a wide range of </a:t>
            </a:r>
            <a:r>
              <a:rPr lang="en-US" b="1"/>
              <a:t>pre-defined metrics</a:t>
            </a:r>
            <a:r>
              <a:rPr lang="en-US"/>
              <a:t> for evaluating </a:t>
            </a:r>
            <a:r>
              <a:rPr lang="en-US" b="1"/>
              <a:t>LLM-based systems.</a:t>
            </a:r>
          </a:p>
          <a:p>
            <a:pPr lvl="2"/>
            <a:r>
              <a:rPr lang="en-US"/>
              <a:t>ranging from RAG, Text2SQL, to Agentic systems.</a:t>
            </a:r>
          </a:p>
          <a:p>
            <a:r>
              <a:rPr lang="en-US"/>
              <a:t>Each module (RAG, Text2SQL, Router)  is </a:t>
            </a:r>
            <a:r>
              <a:rPr lang="en-US" b="1"/>
              <a:t>evaluated independently.</a:t>
            </a:r>
          </a:p>
          <a:p>
            <a:pPr lvl="1"/>
            <a:r>
              <a:rPr lang="en-US"/>
              <a:t>Each with its own metrics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5776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B9B9B-9CEB-672F-3335-4732B4935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15EF73-1455-7F15-A1EB-66A2B3A7A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C7F915D-7FDE-DDDA-7224-56168135B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Experiment Setup and Results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4374B3-5655-C40A-9F97-0BB25F99B83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RAG Metrics</a:t>
            </a:r>
          </a:p>
          <a:p>
            <a:pPr lvl="1"/>
            <a:r>
              <a:rPr lang="en-US" b="1"/>
              <a:t>Faithfulness: </a:t>
            </a:r>
            <a:r>
              <a:rPr lang="en-US"/>
              <a:t>how factually consistent a </a:t>
            </a:r>
            <a:r>
              <a:rPr lang="en-US" b="1"/>
              <a:t>response</a:t>
            </a:r>
            <a:r>
              <a:rPr lang="en-US"/>
              <a:t> is with the </a:t>
            </a:r>
            <a:r>
              <a:rPr lang="en-US" b="1"/>
              <a:t>retrieved context</a:t>
            </a:r>
            <a:r>
              <a:rPr lang="en-US"/>
              <a:t>.</a:t>
            </a:r>
          </a:p>
          <a:p>
            <a:pPr lvl="2"/>
            <a:r>
              <a:rPr lang="en-US"/>
              <a:t>Use a </a:t>
            </a:r>
            <a:r>
              <a:rPr lang="en-US" b="1"/>
              <a:t>judge LLM</a:t>
            </a:r>
            <a:r>
              <a:rPr lang="en-US"/>
              <a:t> to generate claims.</a:t>
            </a:r>
          </a:p>
          <a:p>
            <a:pPr lvl="2"/>
            <a:r>
              <a:rPr lang="en-US"/>
              <a:t>Calculate using the formula.</a:t>
            </a:r>
          </a:p>
          <a:p>
            <a:pPr lvl="1"/>
            <a:endParaRPr lang="en-US" b="1"/>
          </a:p>
          <a:p>
            <a:pPr lvl="1"/>
            <a:endParaRPr lang="en-US" b="1"/>
          </a:p>
          <a:p>
            <a:pPr lvl="1"/>
            <a:endParaRPr lang="vi-VN" b="1"/>
          </a:p>
          <a:p>
            <a:pPr lvl="1"/>
            <a:r>
              <a:rPr lang="vi-VN" b="1"/>
              <a:t>Response Relevancy</a:t>
            </a:r>
            <a:r>
              <a:rPr lang="en-US" b="1"/>
              <a:t>: </a:t>
            </a:r>
            <a:r>
              <a:rPr lang="en-US"/>
              <a:t>how relevant a </a:t>
            </a:r>
            <a:r>
              <a:rPr lang="en-US" b="1"/>
              <a:t>response</a:t>
            </a:r>
            <a:r>
              <a:rPr lang="en-US"/>
              <a:t> is to the </a:t>
            </a:r>
            <a:r>
              <a:rPr lang="en-US" b="1"/>
              <a:t>user input (question).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BC519C-4E6B-4AEE-8162-B7A80FA3D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9122" y="2595200"/>
            <a:ext cx="6452558" cy="6759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67EDF6B-A589-A2B0-3076-C0292F7FC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7356" y="4688865"/>
            <a:ext cx="4454158" cy="98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7565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68674-82F3-CE0D-7F5D-C099C9BA8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F96DA4-F8BC-C994-19A8-D88274A8E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61DF13B-968E-DEFF-AEE8-8AFA9CBCC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Experiment Setup and Results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8B7A1E-433A-E1E0-D234-2F234726E7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RAG Metrics</a:t>
            </a:r>
          </a:p>
          <a:p>
            <a:pPr lvl="1"/>
            <a:r>
              <a:rPr lang="vi-VN" b="1"/>
              <a:t>Answer Similarity</a:t>
            </a:r>
            <a:r>
              <a:rPr lang="vi-VN"/>
              <a:t>: </a:t>
            </a:r>
            <a:r>
              <a:rPr lang="en-US"/>
              <a:t>measures the </a:t>
            </a:r>
            <a:r>
              <a:rPr lang="en-US" b="1"/>
              <a:t>semantic resemblance </a:t>
            </a:r>
            <a:r>
              <a:rPr lang="en-US"/>
              <a:t>between the </a:t>
            </a:r>
            <a:r>
              <a:rPr lang="en-US" b="1"/>
              <a:t>generated answer </a:t>
            </a:r>
            <a:r>
              <a:rPr lang="en-US"/>
              <a:t>and the </a:t>
            </a:r>
            <a:r>
              <a:rPr lang="en-US" b="1"/>
              <a:t>ground truth.</a:t>
            </a:r>
          </a:p>
          <a:p>
            <a:pPr lvl="1"/>
            <a:endParaRPr lang="en-US" b="1"/>
          </a:p>
          <a:p>
            <a:pPr lvl="1"/>
            <a:endParaRPr lang="en-US" b="1"/>
          </a:p>
          <a:p>
            <a:pPr lvl="1"/>
            <a:r>
              <a:rPr lang="vi-VN" b="1"/>
              <a:t>Factual Correctness</a:t>
            </a:r>
            <a:r>
              <a:rPr lang="en-US"/>
              <a:t>: evaluates the </a:t>
            </a:r>
            <a:r>
              <a:rPr lang="en-US" b="1"/>
              <a:t>factual accuracy</a:t>
            </a:r>
            <a:r>
              <a:rPr lang="en-US"/>
              <a:t> of the </a:t>
            </a:r>
            <a:r>
              <a:rPr lang="en-US" b="1"/>
              <a:t>generated response</a:t>
            </a:r>
            <a:r>
              <a:rPr lang="en-US"/>
              <a:t> with the </a:t>
            </a:r>
            <a:r>
              <a:rPr lang="en-US" b="1"/>
              <a:t>reference</a:t>
            </a:r>
            <a:r>
              <a:rPr lang="en-US"/>
              <a:t>.</a:t>
            </a:r>
          </a:p>
          <a:p>
            <a:pPr lvl="2"/>
            <a:r>
              <a:rPr lang="en-US"/>
              <a:t>Use </a:t>
            </a:r>
            <a:r>
              <a:rPr lang="en-US" b="1"/>
              <a:t>judge LLM </a:t>
            </a:r>
            <a:r>
              <a:rPr lang="en-US"/>
              <a:t>to break down response + reference </a:t>
            </a:r>
            <a:r>
              <a:rPr lang="en-US">
                <a:sym typeface="Wingdings" panose="05000000000000000000" pitchFamily="2" charset="2"/>
              </a:rPr>
              <a:t> claims.</a:t>
            </a:r>
          </a:p>
          <a:p>
            <a:pPr lvl="2"/>
            <a:r>
              <a:rPr lang="en-US"/>
              <a:t>Determine factual overlap using F1 score.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C162209-3AF6-BA9D-0F47-BFF332650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0220" y="2161285"/>
            <a:ext cx="3611560" cy="858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8094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95DC8-B38F-FDFA-AEF3-E74EADD77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6B2735-C5F7-324D-86CF-E4D78F62D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AE24FC7-76A9-AD81-5D79-A82D12646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Experiment Setup and Results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63A0A0-18F5-1252-3050-2799887350F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Text2SQL Metrics</a:t>
            </a:r>
          </a:p>
          <a:p>
            <a:pPr lvl="1"/>
            <a:r>
              <a:rPr lang="en-US" b="1"/>
              <a:t>SQL Query Equivalence</a:t>
            </a:r>
            <a:r>
              <a:rPr lang="en-US"/>
              <a:t>: </a:t>
            </a:r>
          </a:p>
          <a:p>
            <a:pPr lvl="2"/>
            <a:r>
              <a:rPr lang="en-US"/>
              <a:t>Evaluate the equivalence of the response query with the reference query.</a:t>
            </a:r>
          </a:p>
          <a:p>
            <a:pPr lvl="2"/>
            <a:r>
              <a:rPr lang="en-US"/>
              <a:t>Requires reference schema.</a:t>
            </a:r>
          </a:p>
          <a:p>
            <a:pPr lvl="2"/>
            <a:r>
              <a:rPr lang="en-US"/>
              <a:t>No need to execute query to evaluate.</a:t>
            </a:r>
          </a:p>
          <a:p>
            <a:r>
              <a:rPr lang="en-US"/>
              <a:t>Router Metrics</a:t>
            </a:r>
          </a:p>
          <a:p>
            <a:pPr lvl="1"/>
            <a:r>
              <a:rPr lang="en-US" b="1"/>
              <a:t>Agent Call Accuracy</a:t>
            </a:r>
          </a:p>
          <a:p>
            <a:pPr lvl="2"/>
            <a:r>
              <a:rPr lang="en-US"/>
              <a:t>Assesses performance in identifying the goals of the users (calling the correct agent).</a:t>
            </a:r>
          </a:p>
          <a:p>
            <a:pPr lvl="2"/>
            <a:r>
              <a:rPr lang="en-US"/>
              <a:t>A classification accuracy metrics.</a:t>
            </a:r>
          </a:p>
        </p:txBody>
      </p:sp>
    </p:spTree>
    <p:extLst>
      <p:ext uri="{BB962C8B-B14F-4D97-AF65-F5344CB8AC3E}">
        <p14:creationId xmlns:p14="http://schemas.microsoft.com/office/powerpoint/2010/main" val="2650855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D9F4B-BF6F-52BC-E5A6-8DDADE168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B4590D-2D06-251A-5F78-E2D614F59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3397AB-00BD-F169-6B3C-23764A7C402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/>
              <a:t>Evaluation Datasets</a:t>
            </a:r>
          </a:p>
          <a:p>
            <a:pPr lvl="1"/>
            <a:r>
              <a:rPr lang="en-US"/>
              <a:t>RAG Evaluation</a:t>
            </a:r>
          </a:p>
          <a:p>
            <a:pPr lvl="2"/>
            <a:r>
              <a:rPr lang="en-US"/>
              <a:t>Requires: </a:t>
            </a:r>
            <a:r>
              <a:rPr lang="en-US" b="1"/>
              <a:t>user input, retrieved context</a:t>
            </a:r>
            <a:r>
              <a:rPr lang="en-US"/>
              <a:t>, </a:t>
            </a:r>
            <a:r>
              <a:rPr lang="en-US" b="1"/>
              <a:t>generated response</a:t>
            </a:r>
            <a:r>
              <a:rPr lang="en-US"/>
              <a:t>, </a:t>
            </a:r>
            <a:r>
              <a:rPr lang="en-US" b="1"/>
              <a:t>the ground truth answer.</a:t>
            </a:r>
          </a:p>
          <a:p>
            <a:pPr lvl="2"/>
            <a:r>
              <a:rPr lang="en-US"/>
              <a:t>Created by hand</a:t>
            </a:r>
          </a:p>
          <a:p>
            <a:pPr lvl="2"/>
            <a:r>
              <a:rPr lang="en-US"/>
              <a:t>123 records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917A883-2464-C07F-D4B8-34F79CC33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Experiment Setup and Results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FA5A50-587A-F340-0D04-ACCC710EF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6704" y="1423289"/>
            <a:ext cx="5603533" cy="4520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6201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6DF3E-F001-0973-DB8B-02302B820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23F622-93A3-9ADE-180F-E737429DD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46D7F77-97EB-7E48-5B98-365245D32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Experiment Setup and Results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7B3965-D87D-4C22-0EFE-326756565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Evaluation Datasets</a:t>
            </a:r>
          </a:p>
          <a:p>
            <a:pPr lvl="1"/>
            <a:r>
              <a:rPr lang="en-US"/>
              <a:t>Text2SQL Evaluation</a:t>
            </a:r>
          </a:p>
          <a:p>
            <a:pPr lvl="2"/>
            <a:r>
              <a:rPr lang="en-US"/>
              <a:t>Requires: </a:t>
            </a:r>
            <a:r>
              <a:rPr lang="en-US" b="1"/>
              <a:t>user input</a:t>
            </a:r>
            <a:r>
              <a:rPr lang="en-US"/>
              <a:t>; the </a:t>
            </a:r>
            <a:r>
              <a:rPr lang="en-US" b="1"/>
              <a:t>generated SQL query</a:t>
            </a:r>
            <a:r>
              <a:rPr lang="en-US"/>
              <a:t>; the </a:t>
            </a:r>
            <a:r>
              <a:rPr lang="en-US" b="1"/>
              <a:t>reference query</a:t>
            </a:r>
            <a:r>
              <a:rPr lang="en-US"/>
              <a:t>; the </a:t>
            </a:r>
            <a:r>
              <a:rPr lang="en-US" b="1"/>
              <a:t>schema </a:t>
            </a:r>
            <a:r>
              <a:rPr lang="en-US"/>
              <a:t>of the database</a:t>
            </a:r>
          </a:p>
          <a:p>
            <a:pPr lvl="2"/>
            <a:r>
              <a:rPr lang="en-US"/>
              <a:t>Give </a:t>
            </a:r>
            <a:r>
              <a:rPr lang="en-US" b="1"/>
              <a:t>Gemini 2.5 Pro</a:t>
            </a:r>
            <a:r>
              <a:rPr lang="en-US"/>
              <a:t> the schema + some examples </a:t>
            </a:r>
            <a:r>
              <a:rPr lang="en-US">
                <a:sym typeface="Wingdings" panose="05000000000000000000" pitchFamily="2" charset="2"/>
              </a:rPr>
              <a:t> templates</a:t>
            </a:r>
          </a:p>
          <a:p>
            <a:pPr lvl="2"/>
            <a:r>
              <a:rPr lang="en-US" b="1">
                <a:sym typeface="Wingdings" panose="05000000000000000000" pitchFamily="2" charset="2"/>
              </a:rPr>
              <a:t>Random sample</a:t>
            </a:r>
            <a:r>
              <a:rPr lang="en-US">
                <a:sym typeface="Wingdings" panose="05000000000000000000" pitchFamily="2" charset="2"/>
              </a:rPr>
              <a:t> from the database for the evaluation dataset.</a:t>
            </a:r>
          </a:p>
          <a:p>
            <a:pPr lvl="2"/>
            <a:r>
              <a:rPr lang="en-US">
                <a:sym typeface="Wingdings" panose="05000000000000000000" pitchFamily="2" charset="2"/>
              </a:rPr>
              <a:t>Filter  </a:t>
            </a:r>
            <a:r>
              <a:rPr lang="en-US" b="1">
                <a:sym typeface="Wingdings" panose="05000000000000000000" pitchFamily="2" charset="2"/>
              </a:rPr>
              <a:t>140 </a:t>
            </a:r>
            <a:r>
              <a:rPr lang="en-US">
                <a:sym typeface="Wingdings" panose="05000000000000000000" pitchFamily="2" charset="2"/>
              </a:rPr>
              <a:t>records.</a:t>
            </a:r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2D440B-9A64-D7EE-6569-FF17F3431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0788" y="3673918"/>
            <a:ext cx="8012995" cy="2151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2672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A5256-ED0B-3B6E-2958-C348FB71C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6B58FC2-4A20-8DD8-B619-5B0CA151D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97DB685-1A12-2225-A351-6A1A42486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Experiment Setup and Results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3DAFC1-4DC1-B6FD-5AB8-C6F83B699B3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Evaluation Datasets</a:t>
            </a:r>
          </a:p>
          <a:p>
            <a:pPr lvl="1"/>
            <a:r>
              <a:rPr lang="en-US"/>
              <a:t>Router Evaluation</a:t>
            </a:r>
          </a:p>
          <a:p>
            <a:pPr lvl="2"/>
            <a:r>
              <a:rPr lang="en-US"/>
              <a:t>Requires: </a:t>
            </a:r>
            <a:r>
              <a:rPr lang="en-US" b="1"/>
              <a:t>user input</a:t>
            </a:r>
            <a:r>
              <a:rPr lang="en-US"/>
              <a:t>; </a:t>
            </a:r>
            <a:r>
              <a:rPr lang="en-US" b="1"/>
              <a:t>predicted</a:t>
            </a:r>
            <a:r>
              <a:rPr lang="en-US"/>
              <a:t> agent; </a:t>
            </a:r>
            <a:r>
              <a:rPr lang="en-US" b="1"/>
              <a:t>label</a:t>
            </a:r>
            <a:r>
              <a:rPr lang="en-US"/>
              <a:t>.</a:t>
            </a:r>
          </a:p>
          <a:p>
            <a:pPr lvl="2"/>
            <a:r>
              <a:rPr lang="en-US"/>
              <a:t>Use questions from the other 2 datasets for 2 labels, synthesize random questions for irrelevant label.</a:t>
            </a:r>
          </a:p>
          <a:p>
            <a:pPr lvl="2"/>
            <a:r>
              <a:rPr lang="en-US" b="1"/>
              <a:t>200</a:t>
            </a:r>
            <a:r>
              <a:rPr lang="en-US"/>
              <a:t> records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E458413-3650-1383-8D23-941B2CCA1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242" y="3665985"/>
            <a:ext cx="8765516" cy="1083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7039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8FD65-237B-2B04-371C-91D351D4E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499FBE-24FD-5518-422C-53DA476D9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71DF1E0-E8B8-A98C-020C-DF90AE89F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Experiment Setup and Results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1BF89C-FAC7-9D82-8AB5-DEFF39BE17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Evaluation Setup</a:t>
            </a:r>
          </a:p>
          <a:p>
            <a:pPr lvl="1"/>
            <a:r>
              <a:rPr lang="en-US"/>
              <a:t>Test the system with different LLMs (1 LLM for all modules)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r>
              <a:rPr lang="en-US"/>
              <a:t>Judge LLM: </a:t>
            </a:r>
            <a:r>
              <a:rPr lang="en-US" b="1"/>
              <a:t>GPT-4o-mini</a:t>
            </a:r>
          </a:p>
          <a:p>
            <a:pPr marL="457200" lvl="1" indent="0">
              <a:buNone/>
            </a:pPr>
            <a:endParaRPr lang="en-US"/>
          </a:p>
          <a:p>
            <a:pPr lvl="1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144E27-C4A6-D9AD-9355-0431F4A37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3312" y="1922345"/>
            <a:ext cx="6084178" cy="218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5911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1DEEA-8CF4-1BA7-D866-88EC079D4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58F495-B7C8-CA2B-D4B7-5CAA3417B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6C1B5F4-FC16-2142-0E63-80BD5FD50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Experiment Setup and Results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3CEB03-4452-B063-9853-A1C6622C15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Evaluation Results</a:t>
            </a:r>
          </a:p>
          <a:p>
            <a:pPr lvl="1"/>
            <a:r>
              <a:rPr lang="en-US"/>
              <a:t>Qwen2.5 achieved the overall highest.</a:t>
            </a:r>
          </a:p>
          <a:p>
            <a:pPr lvl="1"/>
            <a:r>
              <a:rPr lang="en-US"/>
              <a:t>Thinking models struggle with QA.</a:t>
            </a:r>
          </a:p>
          <a:p>
            <a:pPr lvl="1"/>
            <a:r>
              <a:rPr lang="en-US"/>
              <a:t>&lt;7B models struggle heavily.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34F500-CFC2-E758-67DF-7A12E1149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0763" y="2903958"/>
            <a:ext cx="7470475" cy="273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1607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2AD56-561B-15F5-0788-A432D229A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B20008-3CA5-3883-91F0-778573C00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BF513C7-8FA2-E744-DEC1-DEC269428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5. Conclusions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9C9DA5-0BE3-BCE3-7795-00C2A31B0E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Kết luận</a:t>
            </a:r>
          </a:p>
          <a:p>
            <a:r>
              <a:rPr lang="en-US"/>
              <a:t>Future works</a:t>
            </a:r>
          </a:p>
          <a:p>
            <a:pPr lvl="1"/>
            <a:r>
              <a:rPr lang="en-US"/>
              <a:t>Planner -&gt; multi-hop</a:t>
            </a:r>
          </a:p>
          <a:p>
            <a:pPr lvl="1"/>
            <a:r>
              <a:rPr lang="en-US"/>
              <a:t>Expand personnel data</a:t>
            </a:r>
          </a:p>
          <a:p>
            <a:pPr lvl="1"/>
            <a:endParaRPr lang="en-US"/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074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37B5C8-2095-4D2D-97FE-E4E8D893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F78B3876-6ECC-4098-BDD1-C48CE4B42721}"/>
              </a:ext>
            </a:extLst>
          </p:cNvPr>
          <p:cNvSpPr txBox="1">
            <a:spLocks/>
          </p:cNvSpPr>
          <p:nvPr/>
        </p:nvSpPr>
        <p:spPr>
          <a:xfrm>
            <a:off x="5705095" y="3021992"/>
            <a:ext cx="4197975" cy="8140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800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2830535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B19AD86CDF2D4DBF9DAD694EFBC09D" ma:contentTypeVersion="7" ma:contentTypeDescription="Create a new document." ma:contentTypeScope="" ma:versionID="6423fc3df46fff0625ec86a02e55459f">
  <xsd:schema xmlns:xsd="http://www.w3.org/2001/XMLSchema" xmlns:xs="http://www.w3.org/2001/XMLSchema" xmlns:p="http://schemas.microsoft.com/office/2006/metadata/properties" xmlns:ns2="757826ba-dfa3-48aa-98b2-1e988427fee5" xmlns:ns3="e4770848-7955-4ec6-9f06-ace3904740ab" targetNamespace="http://schemas.microsoft.com/office/2006/metadata/properties" ma:root="true" ma:fieldsID="24cf96f43bac35fd0bad3b1a63bec25f" ns2:_="" ns3:_="">
    <xsd:import namespace="757826ba-dfa3-48aa-98b2-1e988427fee5"/>
    <xsd:import namespace="e4770848-7955-4ec6-9f06-ace3904740a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7826ba-dfa3-48aa-98b2-1e988427fee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770848-7955-4ec6-9f06-ace3904740ab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BC316FA-151E-4EDB-9E09-98DAB3D0971A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98E78E3-0A98-4D61-9B64-F38933067CC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57826ba-dfa3-48aa-98b2-1e988427fee5"/>
    <ds:schemaRef ds:uri="e4770848-7955-4ec6-9f06-ace3904740a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C34D971-5E4A-4DCB-9925-F7DA6878D48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999</Words>
  <Application>Microsoft Office PowerPoint</Application>
  <PresentationFormat>Widescreen</PresentationFormat>
  <Paragraphs>212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Lato</vt:lpstr>
      <vt:lpstr>Wingdings</vt:lpstr>
      <vt:lpstr>Office Theme</vt:lpstr>
      <vt:lpstr>PowerPoint Presentation</vt:lpstr>
      <vt:lpstr>PowerPoint Presentation</vt:lpstr>
      <vt:lpstr>PowerPoint Presentation</vt:lpstr>
      <vt:lpstr>Table of Content</vt:lpstr>
      <vt:lpstr>PowerPoint Presentation</vt:lpstr>
      <vt:lpstr>1. Motivation</vt:lpstr>
      <vt:lpstr>1. Motivation</vt:lpstr>
      <vt:lpstr>2. Objectives</vt:lpstr>
      <vt:lpstr>3. Methodology</vt:lpstr>
      <vt:lpstr>3. Methodology</vt:lpstr>
      <vt:lpstr>3. Methodology</vt:lpstr>
      <vt:lpstr>3. Methodology</vt:lpstr>
      <vt:lpstr>3. Methodology</vt:lpstr>
      <vt:lpstr>3. Methodology</vt:lpstr>
      <vt:lpstr>3. Methodology</vt:lpstr>
      <vt:lpstr>3. Methodology</vt:lpstr>
      <vt:lpstr>3. Methodology</vt:lpstr>
      <vt:lpstr>3. Methodology</vt:lpstr>
      <vt:lpstr>3. Methodology</vt:lpstr>
      <vt:lpstr>3. Methodology</vt:lpstr>
      <vt:lpstr>3. Methodology</vt:lpstr>
      <vt:lpstr>4. Experiment Setup and Results</vt:lpstr>
      <vt:lpstr>4. Experiment Setup and Results</vt:lpstr>
      <vt:lpstr>4. Experiment Setup and Results</vt:lpstr>
      <vt:lpstr>4. Experiment Setup and Results</vt:lpstr>
      <vt:lpstr>4. Experiment Setup and Results</vt:lpstr>
      <vt:lpstr>4. Experiment Setup and Results</vt:lpstr>
      <vt:lpstr>4. Experiment Setup and Results</vt:lpstr>
      <vt:lpstr>4. Experiment Setup and Results</vt:lpstr>
      <vt:lpstr>4. Experiment Setup and Results</vt:lpstr>
      <vt:lpstr>5. Conclusions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Le Trung Kien 20214907</cp:lastModifiedBy>
  <cp:revision>11</cp:revision>
  <dcterms:created xsi:type="dcterms:W3CDTF">2021-05-28T04:32:29Z</dcterms:created>
  <dcterms:modified xsi:type="dcterms:W3CDTF">2025-06-22T13:04:48Z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0x010100ECB19AD86CDF2D4DBF9DAD694EFBC09D</vt:lpwstr>
  </property>
</Properties>
</file>